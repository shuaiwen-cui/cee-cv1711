
<file path=[Content_Types].xml><?xml version="1.0" encoding="utf-8"?>
<Types xmlns="http://schemas.openxmlformats.org/package/2006/content-types">
  <Default Extension="glb" ContentType="model/gltf.binary"/>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handoutMasterIdLst>
    <p:handoutMasterId r:id="rId29"/>
  </p:handoutMasterIdLst>
  <p:sldIdLst>
    <p:sldId id="259" r:id="rId5"/>
    <p:sldId id="268" r:id="rId6"/>
    <p:sldId id="308" r:id="rId7"/>
    <p:sldId id="309" r:id="rId8"/>
    <p:sldId id="310" r:id="rId9"/>
    <p:sldId id="311" r:id="rId10"/>
    <p:sldId id="313" r:id="rId11"/>
    <p:sldId id="312" r:id="rId12"/>
    <p:sldId id="314" r:id="rId13"/>
    <p:sldId id="322" r:id="rId14"/>
    <p:sldId id="315" r:id="rId15"/>
    <p:sldId id="323" r:id="rId16"/>
    <p:sldId id="324" r:id="rId17"/>
    <p:sldId id="316" r:id="rId18"/>
    <p:sldId id="317" r:id="rId19"/>
    <p:sldId id="318" r:id="rId20"/>
    <p:sldId id="319" r:id="rId21"/>
    <p:sldId id="307" r:id="rId22"/>
    <p:sldId id="321" r:id="rId23"/>
    <p:sldId id="320" r:id="rId24"/>
    <p:sldId id="306" r:id="rId25"/>
    <p:sldId id="325" r:id="rId26"/>
    <p:sldId id="326" r:id="rId27"/>
    <p:sldId id="304" r:id="rId2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AED5A2"/>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F7FDA-E528-4AF7-8C34-EB39A8462034}" v="3" dt="2026-02-13T07:40:20.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22" autoAdjust="0"/>
    <p:restoredTop sz="94765"/>
  </p:normalViewPr>
  <p:slideViewPr>
    <p:cSldViewPr snapToGrid="0" snapToObjects="1">
      <p:cViewPr varScale="1">
        <p:scale>
          <a:sx n="199" d="100"/>
          <a:sy n="199" d="100"/>
        </p:scale>
        <p:origin x="582" y="14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UI SHUAIWEN#" userId="35a196ea-bcb8-475e-86cf-0b9eaca8a48f" providerId="ADAL" clId="{4D8D382B-DDFF-455F-B5ED-E854E938891F}"/>
    <pc:docChg chg="undo custSel addSld delSld modSld">
      <pc:chgData name="#CUI SHUAIWEN#" userId="35a196ea-bcb8-475e-86cf-0b9eaca8a48f" providerId="ADAL" clId="{4D8D382B-DDFF-455F-B5ED-E854E938891F}" dt="2026-02-13T07:40:36.439" v="308" actId="1076"/>
      <pc:docMkLst>
        <pc:docMk/>
      </pc:docMkLst>
      <pc:sldChg chg="addSp delSp modSp add mod">
        <pc:chgData name="#CUI SHUAIWEN#" userId="35a196ea-bcb8-475e-86cf-0b9eaca8a48f" providerId="ADAL" clId="{4D8D382B-DDFF-455F-B5ED-E854E938891F}" dt="2026-02-13T07:40:36.439" v="308" actId="1076"/>
        <pc:sldMkLst>
          <pc:docMk/>
          <pc:sldMk cId="2224933946" sldId="304"/>
        </pc:sldMkLst>
        <pc:spChg chg="mod">
          <ac:chgData name="#CUI SHUAIWEN#" userId="35a196ea-bcb8-475e-86cf-0b9eaca8a48f" providerId="ADAL" clId="{4D8D382B-DDFF-455F-B5ED-E854E938891F}" dt="2026-02-13T07:40:34.269" v="307" actId="1076"/>
          <ac:spMkLst>
            <pc:docMk/>
            <pc:sldMk cId="2224933946" sldId="304"/>
            <ac:spMk id="11" creationId="{1F4BC619-0BB6-4377-DAFE-60564F8DE541}"/>
          </ac:spMkLst>
        </pc:spChg>
        <pc:picChg chg="add mod ord">
          <ac:chgData name="#CUI SHUAIWEN#" userId="35a196ea-bcb8-475e-86cf-0b9eaca8a48f" providerId="ADAL" clId="{4D8D382B-DDFF-455F-B5ED-E854E938891F}" dt="2026-02-13T07:40:13.225" v="300" actId="1076"/>
          <ac:picMkLst>
            <pc:docMk/>
            <pc:sldMk cId="2224933946" sldId="304"/>
            <ac:picMk id="3" creationId="{BD1F1D94-BF01-9773-824C-FE402E312B92}"/>
          </ac:picMkLst>
        </pc:picChg>
        <pc:picChg chg="del">
          <ac:chgData name="#CUI SHUAIWEN#" userId="35a196ea-bcb8-475e-86cf-0b9eaca8a48f" providerId="ADAL" clId="{4D8D382B-DDFF-455F-B5ED-E854E938891F}" dt="2026-02-13T07:40:00.265" v="295" actId="478"/>
          <ac:picMkLst>
            <pc:docMk/>
            <pc:sldMk cId="2224933946" sldId="304"/>
            <ac:picMk id="7" creationId="{5935D5B1-67A1-AB64-FDD8-72ED4A465D86}"/>
          </ac:picMkLst>
        </pc:picChg>
        <pc:picChg chg="add mod ord">
          <ac:chgData name="#CUI SHUAIWEN#" userId="35a196ea-bcb8-475e-86cf-0b9eaca8a48f" providerId="ADAL" clId="{4D8D382B-DDFF-455F-B5ED-E854E938891F}" dt="2026-02-13T07:40:31.644" v="306" actId="14100"/>
          <ac:picMkLst>
            <pc:docMk/>
            <pc:sldMk cId="2224933946" sldId="304"/>
            <ac:picMk id="8" creationId="{6E905F45-6EB8-6ED1-B7FC-8266293A3D49}"/>
          </ac:picMkLst>
        </pc:picChg>
        <pc:picChg chg="del">
          <ac:chgData name="#CUI SHUAIWEN#" userId="35a196ea-bcb8-475e-86cf-0b9eaca8a48f" providerId="ADAL" clId="{4D8D382B-DDFF-455F-B5ED-E854E938891F}" dt="2026-02-13T07:40:00.873" v="296" actId="478"/>
          <ac:picMkLst>
            <pc:docMk/>
            <pc:sldMk cId="2224933946" sldId="304"/>
            <ac:picMk id="9" creationId="{D0020648-9FCC-BAF2-A075-E7048C4E6CB8}"/>
          </ac:picMkLst>
        </pc:picChg>
        <pc:cxnChg chg="mod">
          <ac:chgData name="#CUI SHUAIWEN#" userId="35a196ea-bcb8-475e-86cf-0b9eaca8a48f" providerId="ADAL" clId="{4D8D382B-DDFF-455F-B5ED-E854E938891F}" dt="2026-02-13T07:40:36.439" v="308" actId="1076"/>
          <ac:cxnSpMkLst>
            <pc:docMk/>
            <pc:sldMk cId="2224933946" sldId="304"/>
            <ac:cxnSpMk id="14" creationId="{BFF23151-07FE-30CA-B197-14A5B86422C9}"/>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EFC5B3-379E-EF40-A0D2-38E640436CC2}" type="datetimeFigureOut">
              <a:rPr lang="en-US" smtClean="0">
                <a:latin typeface="Arial"/>
              </a:rPr>
              <a:t>2/13/2026</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029101-7F9C-2D47-B95D-7561785BF174}" type="slidenum">
              <a:rPr lang="en-US" smtClean="0">
                <a:latin typeface="Arial"/>
              </a:rPr>
              <a:t>‹#›</a:t>
            </a:fld>
            <a:endParaRPr lang="en-US" dirty="0">
              <a:latin typeface="Arial"/>
            </a:endParaRPr>
          </a:p>
        </p:txBody>
      </p:sp>
    </p:spTree>
    <p:extLst>
      <p:ext uri="{BB962C8B-B14F-4D97-AF65-F5344CB8AC3E}">
        <p14:creationId xmlns:p14="http://schemas.microsoft.com/office/powerpoint/2010/main" val="39611757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1CC899-6CEC-9548-B06D-7E1EB6F78CA3}"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3792405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1CC899-6CEC-9548-B06D-7E1EB6F78CA3}"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492943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3305176"/>
            <a:ext cx="8229600" cy="1021556"/>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457200" y="2180035"/>
            <a:ext cx="82296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F1CC899-6CEC-9548-B06D-7E1EB6F78CA3}"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426584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1CC899-6CEC-9548-B06D-7E1EB6F78CA3}"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061538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9124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71068"/>
            <a:ext cx="4040188" cy="272130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39124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71068"/>
            <a:ext cx="4041775" cy="272130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F1CC899-6CEC-9548-B06D-7E1EB6F78CA3}" type="datetimeFigureOut">
              <a:rPr lang="en-US" smtClean="0"/>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98349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1CC899-6CEC-9548-B06D-7E1EB6F78CA3}" type="datetimeFigureOut">
              <a:rPr lang="en-US" smtClean="0"/>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1911849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1CC899-6CEC-9548-B06D-7E1EB6F78CA3}" type="datetimeFigureOut">
              <a:rPr lang="en-US" smtClean="0"/>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306448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591463"/>
            <a:ext cx="3008313" cy="871538"/>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591464"/>
            <a:ext cx="5111750" cy="40486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593860"/>
            <a:ext cx="3008313" cy="30462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F1CC899-6CEC-9548-B06D-7E1EB6F78CA3}"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415777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1CC899-6CEC-9548-B06D-7E1EB6F78CA3}"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6562B1-0B0F-0246-9532-09536BC2AE59}" type="slidenum">
              <a:rPr lang="en-US" smtClean="0"/>
              <a:t>‹#›</a:t>
            </a:fld>
            <a:endParaRPr lang="en-US"/>
          </a:p>
        </p:txBody>
      </p:sp>
    </p:spTree>
    <p:extLst>
      <p:ext uri="{BB962C8B-B14F-4D97-AF65-F5344CB8AC3E}">
        <p14:creationId xmlns:p14="http://schemas.microsoft.com/office/powerpoint/2010/main" val="207289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22724"/>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6896"/>
            <a:ext cx="8229600" cy="29070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361530"/>
            <a:ext cx="2133600" cy="273844"/>
          </a:xfrm>
          <a:prstGeom prst="rect">
            <a:avLst/>
          </a:prstGeom>
        </p:spPr>
        <p:txBody>
          <a:bodyPr vert="horz" lIns="91440" tIns="45720" rIns="91440" bIns="45720" rtlCol="0" anchor="ctr"/>
          <a:lstStyle>
            <a:lvl1pPr algn="l">
              <a:defRPr sz="1200">
                <a:solidFill>
                  <a:schemeClr val="tx1">
                    <a:tint val="75000"/>
                  </a:schemeClr>
                </a:solidFill>
                <a:latin typeface="Arial"/>
              </a:defRPr>
            </a:lvl1pPr>
          </a:lstStyle>
          <a:p>
            <a:fld id="{9F1CC899-6CEC-9548-B06D-7E1EB6F78CA3}" type="datetimeFigureOut">
              <a:rPr lang="en-US" smtClean="0"/>
              <a:pPr/>
              <a:t>2/13/2026</a:t>
            </a:fld>
            <a:endParaRPr lang="en-US" dirty="0"/>
          </a:p>
        </p:txBody>
      </p:sp>
      <p:sp>
        <p:nvSpPr>
          <p:cNvPr id="5" name="Footer Placeholder 4"/>
          <p:cNvSpPr>
            <a:spLocks noGrp="1"/>
          </p:cNvSpPr>
          <p:nvPr>
            <p:ph type="ftr" sz="quarter" idx="3"/>
          </p:nvPr>
        </p:nvSpPr>
        <p:spPr>
          <a:xfrm>
            <a:off x="3124200" y="4361530"/>
            <a:ext cx="2895600" cy="273844"/>
          </a:xfrm>
          <a:prstGeom prst="rect">
            <a:avLst/>
          </a:prstGeom>
        </p:spPr>
        <p:txBody>
          <a:bodyPr vert="horz" lIns="91440" tIns="45720" rIns="91440" bIns="45720" rtlCol="0" anchor="ctr"/>
          <a:lstStyle>
            <a:lvl1pPr algn="ctr">
              <a:defRPr sz="1200">
                <a:solidFill>
                  <a:schemeClr val="tx1">
                    <a:tint val="75000"/>
                  </a:schemeClr>
                </a:solidFill>
                <a:latin typeface="Arial"/>
              </a:defRPr>
            </a:lvl1pPr>
          </a:lstStyle>
          <a:p>
            <a:endParaRPr lang="en-US" dirty="0"/>
          </a:p>
        </p:txBody>
      </p:sp>
      <p:sp>
        <p:nvSpPr>
          <p:cNvPr id="6" name="Slide Number Placeholder 5"/>
          <p:cNvSpPr>
            <a:spLocks noGrp="1"/>
          </p:cNvSpPr>
          <p:nvPr>
            <p:ph type="sldNum" sz="quarter" idx="4"/>
          </p:nvPr>
        </p:nvSpPr>
        <p:spPr>
          <a:xfrm>
            <a:off x="6553200" y="4361530"/>
            <a:ext cx="2133600" cy="273844"/>
          </a:xfrm>
          <a:prstGeom prst="rect">
            <a:avLst/>
          </a:prstGeom>
        </p:spPr>
        <p:txBody>
          <a:bodyPr vert="horz" lIns="91440" tIns="45720" rIns="91440" bIns="45720" rtlCol="0" anchor="ctr"/>
          <a:lstStyle>
            <a:lvl1pPr algn="r">
              <a:defRPr sz="1200" baseline="0">
                <a:solidFill>
                  <a:schemeClr val="tx1">
                    <a:tint val="75000"/>
                  </a:schemeClr>
                </a:solidFill>
                <a:latin typeface="Arial"/>
              </a:defRPr>
            </a:lvl1pPr>
          </a:lstStyle>
          <a:p>
            <a:fld id="{8E6562B1-0B0F-0246-9532-09536BC2AE59}" type="slidenum">
              <a:rPr lang="en-US" smtClean="0"/>
              <a:pPr/>
              <a:t>‹#›</a:t>
            </a:fld>
            <a:endParaRPr lang="en-US" dirty="0"/>
          </a:p>
        </p:txBody>
      </p:sp>
      <p:pic>
        <p:nvPicPr>
          <p:cNvPr id="7" name="Picture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4872191"/>
            <a:ext cx="9144000" cy="286893"/>
          </a:xfrm>
          <a:prstGeom prst="rect">
            <a:avLst/>
          </a:prstGeom>
        </p:spPr>
      </p:pic>
    </p:spTree>
    <p:extLst>
      <p:ext uri="{BB962C8B-B14F-4D97-AF65-F5344CB8AC3E}">
        <p14:creationId xmlns:p14="http://schemas.microsoft.com/office/powerpoint/2010/main" val="671930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457200" rtl="0" eaLnBrk="1" latinLnBrk="0" hangingPunct="1">
        <a:spcBef>
          <a:spcPct val="0"/>
        </a:spcBef>
        <a:buNone/>
        <a:defRPr sz="4400" kern="1200">
          <a:solidFill>
            <a:schemeClr val="tx1"/>
          </a:solidFill>
          <a:latin typeface="Arial"/>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7/06/relationships/model3d" Target="../media/model3d2.glb"/><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8303" y="1189841"/>
            <a:ext cx="5336535" cy="1481170"/>
          </a:xfrm>
        </p:spPr>
        <p:txBody>
          <a:bodyPr>
            <a:normAutofit/>
          </a:bodyPr>
          <a:lstStyle/>
          <a:p>
            <a:r>
              <a:rPr lang="en-US" sz="3000" b="1" dirty="0">
                <a:solidFill>
                  <a:schemeClr val="bg1"/>
                </a:solidFill>
                <a:cs typeface="Arial"/>
              </a:rPr>
              <a:t>CV1711 ENGINEERING DRAWING &amp; 3D BUILD </a:t>
            </a:r>
            <a:br>
              <a:rPr lang="en-US" sz="3000" b="1" dirty="0">
                <a:solidFill>
                  <a:schemeClr val="bg1"/>
                </a:solidFill>
                <a:cs typeface="Arial"/>
              </a:rPr>
            </a:br>
            <a:r>
              <a:rPr lang="en-US" sz="3000" b="1" dirty="0">
                <a:solidFill>
                  <a:schemeClr val="bg1"/>
                </a:solidFill>
                <a:cs typeface="Arial"/>
              </a:rPr>
              <a:t>INFO MODEL (LAB)</a:t>
            </a:r>
          </a:p>
        </p:txBody>
      </p:sp>
    </p:spTree>
    <p:extLst>
      <p:ext uri="{BB962C8B-B14F-4D97-AF65-F5344CB8AC3E}">
        <p14:creationId xmlns:p14="http://schemas.microsoft.com/office/powerpoint/2010/main" val="1897986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F608-D302-8513-6306-E5E7E4DDAA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CBC3A0-2B36-47B2-F7C2-6B2DAB24C5B0}"/>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Prepare for Quiz 1 in Week 7</a:t>
            </a:r>
            <a:endParaRPr lang="en-US" sz="2800" b="1" dirty="0">
              <a:solidFill>
                <a:srgbClr val="FF0000"/>
              </a:solidFill>
            </a:endParaRPr>
          </a:p>
        </p:txBody>
      </p:sp>
    </p:spTree>
    <p:extLst>
      <p:ext uri="{BB962C8B-B14F-4D97-AF65-F5344CB8AC3E}">
        <p14:creationId xmlns:p14="http://schemas.microsoft.com/office/powerpoint/2010/main" val="1444261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D6434-1594-9896-BB93-07C8C32203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C7B4DA-D677-69CF-8E35-83293949E9B0}"/>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55984FC7-C9C8-80C2-67AF-C517429832C8}"/>
              </a:ext>
            </a:extLst>
          </p:cNvPr>
          <p:cNvSpPr txBox="1"/>
          <p:nvPr/>
        </p:nvSpPr>
        <p:spPr>
          <a:xfrm>
            <a:off x="914285" y="1522367"/>
            <a:ext cx="7315430" cy="523220"/>
          </a:xfrm>
          <a:prstGeom prst="rect">
            <a:avLst/>
          </a:prstGeom>
          <a:noFill/>
        </p:spPr>
        <p:txBody>
          <a:bodyPr wrap="square" rtlCol="0">
            <a:spAutoFit/>
          </a:bodyPr>
          <a:lstStyle/>
          <a:p>
            <a:r>
              <a:rPr lang="en-US" sz="2800" b="1" dirty="0">
                <a:solidFill>
                  <a:srgbClr val="FF0000"/>
                </a:solidFill>
              </a:rPr>
              <a:t>Q: Scope of Quiz 1?</a:t>
            </a:r>
          </a:p>
        </p:txBody>
      </p:sp>
      <p:sp>
        <p:nvSpPr>
          <p:cNvPr id="3" name="TextBox 2">
            <a:extLst>
              <a:ext uri="{FF2B5EF4-FFF2-40B4-BE49-F238E27FC236}">
                <a16:creationId xmlns:a16="http://schemas.microsoft.com/office/drawing/2014/main" id="{1D582689-653D-8749-493D-67D8DC276A90}"/>
              </a:ext>
            </a:extLst>
          </p:cNvPr>
          <p:cNvSpPr txBox="1"/>
          <p:nvPr/>
        </p:nvSpPr>
        <p:spPr>
          <a:xfrm>
            <a:off x="914285" y="2310140"/>
            <a:ext cx="7315430" cy="523220"/>
          </a:xfrm>
          <a:prstGeom prst="rect">
            <a:avLst/>
          </a:prstGeom>
          <a:noFill/>
        </p:spPr>
        <p:txBody>
          <a:bodyPr wrap="square" rtlCol="0">
            <a:spAutoFit/>
          </a:bodyPr>
          <a:lstStyle/>
          <a:p>
            <a:r>
              <a:rPr lang="en-US" sz="2800" b="1" dirty="0">
                <a:solidFill>
                  <a:schemeClr val="accent1"/>
                </a:solidFill>
              </a:rPr>
              <a:t>A: Auxiliary Projection</a:t>
            </a:r>
          </a:p>
        </p:txBody>
      </p:sp>
    </p:spTree>
    <p:extLst>
      <p:ext uri="{BB962C8B-B14F-4D97-AF65-F5344CB8AC3E}">
        <p14:creationId xmlns:p14="http://schemas.microsoft.com/office/powerpoint/2010/main" val="3753915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F9340-14E4-28FC-FDA5-D7106B3C25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253122-F2F4-5629-6505-89E3BBAE861B}"/>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0D71DDF0-F9CA-8113-389D-A93EE17C008D}"/>
              </a:ext>
            </a:extLst>
          </p:cNvPr>
          <p:cNvSpPr txBox="1"/>
          <p:nvPr/>
        </p:nvSpPr>
        <p:spPr>
          <a:xfrm>
            <a:off x="914285" y="1522367"/>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a:solidFill>
                  <a:srgbClr val="FF0000"/>
                </a:solidFill>
              </a:rPr>
              <a:t>Exercises to pay attention?</a:t>
            </a:r>
            <a:r>
              <a:rPr lang="en-US" sz="2800" b="1" dirty="0">
                <a:solidFill>
                  <a:srgbClr val="FF0000"/>
                </a:solidFill>
              </a:rPr>
              <a:t>  </a:t>
            </a:r>
          </a:p>
        </p:txBody>
      </p:sp>
      <p:sp>
        <p:nvSpPr>
          <p:cNvPr id="3" name="TextBox 2">
            <a:extLst>
              <a:ext uri="{FF2B5EF4-FFF2-40B4-BE49-F238E27FC236}">
                <a16:creationId xmlns:a16="http://schemas.microsoft.com/office/drawing/2014/main" id="{5909ECA5-E217-D9C5-C661-D7285FD91847}"/>
              </a:ext>
            </a:extLst>
          </p:cNvPr>
          <p:cNvSpPr txBox="1"/>
          <p:nvPr/>
        </p:nvSpPr>
        <p:spPr>
          <a:xfrm>
            <a:off x="914285" y="2310140"/>
            <a:ext cx="7315430" cy="523220"/>
          </a:xfrm>
          <a:prstGeom prst="rect">
            <a:avLst/>
          </a:prstGeom>
          <a:noFill/>
        </p:spPr>
        <p:txBody>
          <a:bodyPr wrap="square" rtlCol="0">
            <a:spAutoFit/>
          </a:bodyPr>
          <a:lstStyle/>
          <a:p>
            <a:r>
              <a:rPr lang="en-US" sz="2800" b="1" dirty="0">
                <a:solidFill>
                  <a:schemeClr val="accent1"/>
                </a:solidFill>
              </a:rPr>
              <a:t>A: E9, E10, E11</a:t>
            </a:r>
          </a:p>
        </p:txBody>
      </p:sp>
    </p:spTree>
    <p:extLst>
      <p:ext uri="{BB962C8B-B14F-4D97-AF65-F5344CB8AC3E}">
        <p14:creationId xmlns:p14="http://schemas.microsoft.com/office/powerpoint/2010/main" val="8107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20D4-9E81-C247-0B8A-60B2ADBC87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6BC80A-03A9-DB4A-4D3F-446A2F454C5F}"/>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C2D5075D-4CDB-807A-C550-D48FBF937586}"/>
              </a:ext>
            </a:extLst>
          </p:cNvPr>
          <p:cNvSpPr txBox="1"/>
          <p:nvPr/>
        </p:nvSpPr>
        <p:spPr>
          <a:xfrm>
            <a:off x="914285" y="691661"/>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a:solidFill>
                  <a:srgbClr val="FF0000"/>
                </a:solidFill>
              </a:rPr>
              <a:t>How does the quiz question look like?</a:t>
            </a:r>
            <a:endParaRPr lang="en-US" sz="2800" b="1" dirty="0">
              <a:solidFill>
                <a:srgbClr val="FF0000"/>
              </a:solidFill>
            </a:endParaRPr>
          </a:p>
        </p:txBody>
      </p:sp>
      <p:pic>
        <p:nvPicPr>
          <p:cNvPr id="5" name="Picture 4">
            <a:extLst>
              <a:ext uri="{FF2B5EF4-FFF2-40B4-BE49-F238E27FC236}">
                <a16:creationId xmlns:a16="http://schemas.microsoft.com/office/drawing/2014/main" id="{987E9BBE-8988-5C55-3430-3DAD418A7F2E}"/>
              </a:ext>
            </a:extLst>
          </p:cNvPr>
          <p:cNvPicPr>
            <a:picLocks noChangeAspect="1"/>
          </p:cNvPicPr>
          <p:nvPr/>
        </p:nvPicPr>
        <p:blipFill>
          <a:blip r:embed="rId2"/>
          <a:stretch>
            <a:fillRect/>
          </a:stretch>
        </p:blipFill>
        <p:spPr>
          <a:xfrm>
            <a:off x="801497" y="1314939"/>
            <a:ext cx="7150100" cy="3136900"/>
          </a:xfrm>
          <a:prstGeom prst="rect">
            <a:avLst/>
          </a:prstGeom>
        </p:spPr>
      </p:pic>
      <p:sp>
        <p:nvSpPr>
          <p:cNvPr id="3" name="TextBox 2">
            <a:extLst>
              <a:ext uri="{FF2B5EF4-FFF2-40B4-BE49-F238E27FC236}">
                <a16:creationId xmlns:a16="http://schemas.microsoft.com/office/drawing/2014/main" id="{2C9C4ECB-161D-4245-8A47-DAD8CAB62B04}"/>
              </a:ext>
            </a:extLst>
          </p:cNvPr>
          <p:cNvSpPr txBox="1"/>
          <p:nvPr/>
        </p:nvSpPr>
        <p:spPr>
          <a:xfrm>
            <a:off x="1296482" y="4324526"/>
            <a:ext cx="6693746" cy="523220"/>
          </a:xfrm>
          <a:prstGeom prst="rect">
            <a:avLst/>
          </a:prstGeom>
          <a:noFill/>
        </p:spPr>
        <p:txBody>
          <a:bodyPr wrap="square" rtlCol="0">
            <a:spAutoFit/>
          </a:bodyPr>
          <a:lstStyle/>
          <a:p>
            <a:r>
              <a:rPr lang="en-US" sz="2800" b="1" dirty="0">
                <a:solidFill>
                  <a:schemeClr val="tx2">
                    <a:lumMod val="60000"/>
                    <a:lumOff val="40000"/>
                  </a:schemeClr>
                </a:solidFill>
              </a:rPr>
              <a:t>Just draw in the level1 template as usual</a:t>
            </a:r>
          </a:p>
        </p:txBody>
      </p:sp>
    </p:spTree>
    <p:extLst>
      <p:ext uri="{BB962C8B-B14F-4D97-AF65-F5344CB8AC3E}">
        <p14:creationId xmlns:p14="http://schemas.microsoft.com/office/powerpoint/2010/main" val="1820511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CF25F-8C3D-1469-F086-3B871AC8C3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5FFB86-DB81-96CB-1E36-284444C1D51C}"/>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104D8B29-267F-0E75-823F-4DFD03ACC97E}"/>
              </a:ext>
            </a:extLst>
          </p:cNvPr>
          <p:cNvSpPr txBox="1"/>
          <p:nvPr/>
        </p:nvSpPr>
        <p:spPr>
          <a:xfrm>
            <a:off x="914285" y="1144507"/>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a:solidFill>
                  <a:srgbClr val="FF0000"/>
                </a:solidFill>
              </a:rPr>
              <a:t>Time and Venue for Quiz 1?</a:t>
            </a:r>
            <a:endParaRPr lang="en-US" sz="2800" b="1" dirty="0">
              <a:solidFill>
                <a:srgbClr val="FF0000"/>
              </a:solidFill>
            </a:endParaRPr>
          </a:p>
        </p:txBody>
      </p:sp>
      <p:sp>
        <p:nvSpPr>
          <p:cNvPr id="3" name="TextBox 2">
            <a:extLst>
              <a:ext uri="{FF2B5EF4-FFF2-40B4-BE49-F238E27FC236}">
                <a16:creationId xmlns:a16="http://schemas.microsoft.com/office/drawing/2014/main" id="{DC0B489B-6240-5C31-718B-D926D740C995}"/>
              </a:ext>
            </a:extLst>
          </p:cNvPr>
          <p:cNvSpPr txBox="1"/>
          <p:nvPr/>
        </p:nvSpPr>
        <p:spPr>
          <a:xfrm>
            <a:off x="914285" y="2048530"/>
            <a:ext cx="7315430" cy="523220"/>
          </a:xfrm>
          <a:prstGeom prst="rect">
            <a:avLst/>
          </a:prstGeom>
          <a:noFill/>
        </p:spPr>
        <p:txBody>
          <a:bodyPr wrap="square" rtlCol="0">
            <a:spAutoFit/>
          </a:bodyPr>
          <a:lstStyle/>
          <a:p>
            <a:r>
              <a:rPr lang="en-US" sz="2800" b="1" dirty="0">
                <a:solidFill>
                  <a:schemeClr val="accent1"/>
                </a:solidFill>
              </a:rPr>
              <a:t>A: Same as usual classes.</a:t>
            </a:r>
          </a:p>
        </p:txBody>
      </p:sp>
    </p:spTree>
    <p:extLst>
      <p:ext uri="{BB962C8B-B14F-4D97-AF65-F5344CB8AC3E}">
        <p14:creationId xmlns:p14="http://schemas.microsoft.com/office/powerpoint/2010/main" val="3106379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C3D79-E420-8B51-EEA9-81A763EB57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6071C4-4D48-F61D-D199-FB05BB263A8E}"/>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2A6EA54C-9A72-4918-2582-6F21C34EDF75}"/>
              </a:ext>
            </a:extLst>
          </p:cNvPr>
          <p:cNvSpPr txBox="1"/>
          <p:nvPr/>
        </p:nvSpPr>
        <p:spPr>
          <a:xfrm>
            <a:off x="914285" y="1144507"/>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err="1">
                <a:solidFill>
                  <a:srgbClr val="FF0000"/>
                </a:solidFill>
              </a:rPr>
              <a:t>Openbook</a:t>
            </a:r>
            <a:r>
              <a:rPr lang="en-US" altLang="zh-CN" sz="2800" b="1" dirty="0">
                <a:solidFill>
                  <a:srgbClr val="FF0000"/>
                </a:solidFill>
              </a:rPr>
              <a:t> quiz?</a:t>
            </a:r>
            <a:endParaRPr lang="en-US" sz="2800" b="1" dirty="0">
              <a:solidFill>
                <a:srgbClr val="FF0000"/>
              </a:solidFill>
            </a:endParaRPr>
          </a:p>
        </p:txBody>
      </p:sp>
      <p:sp>
        <p:nvSpPr>
          <p:cNvPr id="3" name="TextBox 2">
            <a:extLst>
              <a:ext uri="{FF2B5EF4-FFF2-40B4-BE49-F238E27FC236}">
                <a16:creationId xmlns:a16="http://schemas.microsoft.com/office/drawing/2014/main" id="{D84657F5-CBD7-CC63-B92A-63AC5E01A07D}"/>
              </a:ext>
            </a:extLst>
          </p:cNvPr>
          <p:cNvSpPr txBox="1"/>
          <p:nvPr/>
        </p:nvSpPr>
        <p:spPr>
          <a:xfrm>
            <a:off x="914285" y="2048530"/>
            <a:ext cx="7315430" cy="954107"/>
          </a:xfrm>
          <a:prstGeom prst="rect">
            <a:avLst/>
          </a:prstGeom>
          <a:noFill/>
        </p:spPr>
        <p:txBody>
          <a:bodyPr wrap="square" rtlCol="0">
            <a:spAutoFit/>
          </a:bodyPr>
          <a:lstStyle/>
          <a:p>
            <a:r>
              <a:rPr lang="en-US" sz="2800" b="1" dirty="0">
                <a:solidFill>
                  <a:schemeClr val="accent1"/>
                </a:solidFill>
              </a:rPr>
              <a:t>A: You can </a:t>
            </a:r>
            <a:r>
              <a:rPr lang="en-US" sz="2800" b="1" dirty="0">
                <a:solidFill>
                  <a:srgbClr val="FF0000"/>
                </a:solidFill>
              </a:rPr>
              <a:t>only</a:t>
            </a:r>
            <a:r>
              <a:rPr lang="en-US" sz="2800" b="1" dirty="0">
                <a:solidFill>
                  <a:schemeClr val="accent1"/>
                </a:solidFill>
              </a:rPr>
              <a:t> access </a:t>
            </a:r>
            <a:r>
              <a:rPr lang="en-US" sz="2800" b="1" dirty="0" err="1">
                <a:solidFill>
                  <a:schemeClr val="accent1"/>
                </a:solidFill>
              </a:rPr>
              <a:t>NTULearn</a:t>
            </a:r>
            <a:r>
              <a:rPr lang="en-US" sz="2800" b="1" dirty="0">
                <a:solidFill>
                  <a:schemeClr val="accent1"/>
                </a:solidFill>
              </a:rPr>
              <a:t> for previous exercises.</a:t>
            </a:r>
          </a:p>
        </p:txBody>
      </p:sp>
    </p:spTree>
    <p:extLst>
      <p:ext uri="{BB962C8B-B14F-4D97-AF65-F5344CB8AC3E}">
        <p14:creationId xmlns:p14="http://schemas.microsoft.com/office/powerpoint/2010/main" val="3663177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F90FB-B2C3-3694-155E-A895FBB0AF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FDD504-1322-07A0-0169-9BD33332047C}"/>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C5EC5C2A-3A00-D7BC-603D-908631833890}"/>
              </a:ext>
            </a:extLst>
          </p:cNvPr>
          <p:cNvSpPr txBox="1"/>
          <p:nvPr/>
        </p:nvSpPr>
        <p:spPr>
          <a:xfrm>
            <a:off x="914285" y="1144507"/>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a:solidFill>
                  <a:srgbClr val="FF0000"/>
                </a:solidFill>
              </a:rPr>
              <a:t>What files to upload to </a:t>
            </a:r>
            <a:r>
              <a:rPr lang="en-US" altLang="zh-CN" sz="2800" b="1" dirty="0" err="1">
                <a:solidFill>
                  <a:srgbClr val="FF0000"/>
                </a:solidFill>
              </a:rPr>
              <a:t>NTULearn</a:t>
            </a:r>
            <a:r>
              <a:rPr lang="en-US" altLang="zh-CN" sz="2800" b="1" dirty="0">
                <a:solidFill>
                  <a:srgbClr val="FF0000"/>
                </a:solidFill>
              </a:rPr>
              <a:t>?</a:t>
            </a:r>
            <a:endParaRPr lang="en-US" sz="2800" b="1" dirty="0">
              <a:solidFill>
                <a:srgbClr val="FF0000"/>
              </a:solidFill>
            </a:endParaRPr>
          </a:p>
        </p:txBody>
      </p:sp>
      <p:sp>
        <p:nvSpPr>
          <p:cNvPr id="3" name="TextBox 2">
            <a:extLst>
              <a:ext uri="{FF2B5EF4-FFF2-40B4-BE49-F238E27FC236}">
                <a16:creationId xmlns:a16="http://schemas.microsoft.com/office/drawing/2014/main" id="{F59E85BE-AA72-4622-B75E-46D8AFFB3EF9}"/>
              </a:ext>
            </a:extLst>
          </p:cNvPr>
          <p:cNvSpPr txBox="1"/>
          <p:nvPr/>
        </p:nvSpPr>
        <p:spPr>
          <a:xfrm>
            <a:off x="914285" y="2048530"/>
            <a:ext cx="7315430" cy="523220"/>
          </a:xfrm>
          <a:prstGeom prst="rect">
            <a:avLst/>
          </a:prstGeom>
          <a:noFill/>
        </p:spPr>
        <p:txBody>
          <a:bodyPr wrap="square" rtlCol="0">
            <a:spAutoFit/>
          </a:bodyPr>
          <a:lstStyle/>
          <a:p>
            <a:r>
              <a:rPr lang="en-US" sz="2800" b="1" dirty="0">
                <a:solidFill>
                  <a:schemeClr val="accent1"/>
                </a:solidFill>
              </a:rPr>
              <a:t>A: </a:t>
            </a:r>
            <a:r>
              <a:rPr lang="en-US" sz="2800" b="1" dirty="0">
                <a:solidFill>
                  <a:srgbClr val="FF0000"/>
                </a:solidFill>
              </a:rPr>
              <a:t>dwg</a:t>
            </a:r>
            <a:r>
              <a:rPr lang="en-US" sz="2800" b="1" dirty="0">
                <a:solidFill>
                  <a:schemeClr val="accent1"/>
                </a:solidFill>
              </a:rPr>
              <a:t> file and </a:t>
            </a:r>
            <a:r>
              <a:rPr lang="en-US" sz="2800" b="1" dirty="0">
                <a:solidFill>
                  <a:srgbClr val="FF0000"/>
                </a:solidFill>
              </a:rPr>
              <a:t>pdf</a:t>
            </a:r>
            <a:r>
              <a:rPr lang="en-US" sz="2800" b="1" dirty="0">
                <a:solidFill>
                  <a:schemeClr val="accent1"/>
                </a:solidFill>
              </a:rPr>
              <a:t> file, both required.</a:t>
            </a:r>
          </a:p>
        </p:txBody>
      </p:sp>
    </p:spTree>
    <p:extLst>
      <p:ext uri="{BB962C8B-B14F-4D97-AF65-F5344CB8AC3E}">
        <p14:creationId xmlns:p14="http://schemas.microsoft.com/office/powerpoint/2010/main" val="2266704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41D71-D1A0-071C-CE9B-059E031767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721E3D-42D8-53BB-8FD6-E594382A87C2}"/>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1DE0F5E4-BB44-6C8F-4D17-8386DF317A9A}"/>
              </a:ext>
            </a:extLst>
          </p:cNvPr>
          <p:cNvSpPr txBox="1"/>
          <p:nvPr/>
        </p:nvSpPr>
        <p:spPr>
          <a:xfrm>
            <a:off x="914285" y="1144507"/>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a:solidFill>
                  <a:srgbClr val="FF0000"/>
                </a:solidFill>
              </a:rPr>
              <a:t>How to export dwg and pdf file?</a:t>
            </a:r>
            <a:endParaRPr lang="en-US" sz="2800" b="1" dirty="0">
              <a:solidFill>
                <a:srgbClr val="FF0000"/>
              </a:solidFill>
            </a:endParaRPr>
          </a:p>
        </p:txBody>
      </p:sp>
      <p:sp>
        <p:nvSpPr>
          <p:cNvPr id="5" name="TextBox 4">
            <a:extLst>
              <a:ext uri="{FF2B5EF4-FFF2-40B4-BE49-F238E27FC236}">
                <a16:creationId xmlns:a16="http://schemas.microsoft.com/office/drawing/2014/main" id="{BC607D44-F812-9625-04D7-387A866C98DB}"/>
              </a:ext>
            </a:extLst>
          </p:cNvPr>
          <p:cNvSpPr txBox="1"/>
          <p:nvPr/>
        </p:nvSpPr>
        <p:spPr>
          <a:xfrm>
            <a:off x="914285" y="2048530"/>
            <a:ext cx="7315430" cy="523220"/>
          </a:xfrm>
          <a:prstGeom prst="rect">
            <a:avLst/>
          </a:prstGeom>
          <a:noFill/>
        </p:spPr>
        <p:txBody>
          <a:bodyPr wrap="square" rtlCol="0">
            <a:spAutoFit/>
          </a:bodyPr>
          <a:lstStyle/>
          <a:p>
            <a:r>
              <a:rPr lang="en-US" sz="2800" b="1" dirty="0">
                <a:solidFill>
                  <a:schemeClr val="accent1"/>
                </a:solidFill>
              </a:rPr>
              <a:t>A: ‘FILE’&gt; ‘Save As’&gt;’.dwg’, see next slide</a:t>
            </a:r>
          </a:p>
        </p:txBody>
      </p:sp>
    </p:spTree>
    <p:extLst>
      <p:ext uri="{BB962C8B-B14F-4D97-AF65-F5344CB8AC3E}">
        <p14:creationId xmlns:p14="http://schemas.microsoft.com/office/powerpoint/2010/main" val="3604412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CFF1C-B219-7CE3-C5AD-86D5A924722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3D149A3-74FC-6CCE-F3C7-E427CDFAED0E}"/>
              </a:ext>
            </a:extLst>
          </p:cNvPr>
          <p:cNvPicPr>
            <a:picLocks noChangeAspect="1"/>
          </p:cNvPicPr>
          <p:nvPr/>
        </p:nvPicPr>
        <p:blipFill>
          <a:blip r:embed="rId2"/>
          <a:stretch>
            <a:fillRect/>
          </a:stretch>
        </p:blipFill>
        <p:spPr>
          <a:xfrm>
            <a:off x="0" y="0"/>
            <a:ext cx="9144000" cy="5168658"/>
          </a:xfrm>
          <a:prstGeom prst="rect">
            <a:avLst/>
          </a:prstGeom>
        </p:spPr>
      </p:pic>
    </p:spTree>
    <p:extLst>
      <p:ext uri="{BB962C8B-B14F-4D97-AF65-F5344CB8AC3E}">
        <p14:creationId xmlns:p14="http://schemas.microsoft.com/office/powerpoint/2010/main" val="732373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8F434-B683-CDF2-0297-B11C5062E2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8189AF-46C1-0620-4F6D-3EA954E22806}"/>
              </a:ext>
            </a:extLst>
          </p:cNvPr>
          <p:cNvSpPr txBox="1"/>
          <p:nvPr/>
        </p:nvSpPr>
        <p:spPr>
          <a:xfrm>
            <a:off x="317634" y="168441"/>
            <a:ext cx="8117826" cy="523220"/>
          </a:xfrm>
          <a:prstGeom prst="rect">
            <a:avLst/>
          </a:prstGeom>
          <a:noFill/>
        </p:spPr>
        <p:txBody>
          <a:bodyPr wrap="square" rtlCol="0">
            <a:spAutoFit/>
          </a:bodyPr>
          <a:lstStyle/>
          <a:p>
            <a:r>
              <a:rPr lang="en-US" sz="2800" b="1" dirty="0"/>
              <a:t>WEEK </a:t>
            </a:r>
            <a:r>
              <a:rPr lang="en-US" altLang="zh-CN" sz="2800" b="1" dirty="0"/>
              <a:t>6</a:t>
            </a:r>
            <a:r>
              <a:rPr lang="en-US" sz="2800" b="1" dirty="0"/>
              <a:t> – Q&amp;A</a:t>
            </a:r>
            <a:endParaRPr lang="en-US" sz="2800" b="1" dirty="0">
              <a:solidFill>
                <a:srgbClr val="FF0000"/>
              </a:solidFill>
            </a:endParaRPr>
          </a:p>
        </p:txBody>
      </p:sp>
      <p:sp>
        <p:nvSpPr>
          <p:cNvPr id="2" name="TextBox 1">
            <a:extLst>
              <a:ext uri="{FF2B5EF4-FFF2-40B4-BE49-F238E27FC236}">
                <a16:creationId xmlns:a16="http://schemas.microsoft.com/office/drawing/2014/main" id="{F18DA621-0D0E-A859-C2C4-CF9EF3C3331C}"/>
              </a:ext>
            </a:extLst>
          </p:cNvPr>
          <p:cNvSpPr txBox="1"/>
          <p:nvPr/>
        </p:nvSpPr>
        <p:spPr>
          <a:xfrm>
            <a:off x="914285" y="1144507"/>
            <a:ext cx="7315430" cy="523220"/>
          </a:xfrm>
          <a:prstGeom prst="rect">
            <a:avLst/>
          </a:prstGeom>
          <a:noFill/>
        </p:spPr>
        <p:txBody>
          <a:bodyPr wrap="square" rtlCol="0">
            <a:spAutoFit/>
          </a:bodyPr>
          <a:lstStyle/>
          <a:p>
            <a:r>
              <a:rPr lang="en-US" sz="2800" b="1" dirty="0">
                <a:solidFill>
                  <a:srgbClr val="FF0000"/>
                </a:solidFill>
              </a:rPr>
              <a:t>Q:</a:t>
            </a:r>
            <a:r>
              <a:rPr lang="zh-CN" altLang="en-US" sz="2800" b="1" dirty="0">
                <a:solidFill>
                  <a:srgbClr val="FF0000"/>
                </a:solidFill>
              </a:rPr>
              <a:t> </a:t>
            </a:r>
            <a:r>
              <a:rPr lang="en-US" altLang="zh-CN" sz="2800" b="1" dirty="0">
                <a:solidFill>
                  <a:srgbClr val="FF0000"/>
                </a:solidFill>
              </a:rPr>
              <a:t>How to export dwg and pdf file?</a:t>
            </a:r>
            <a:endParaRPr lang="en-US" sz="2800" b="1" dirty="0">
              <a:solidFill>
                <a:srgbClr val="FF0000"/>
              </a:solidFill>
            </a:endParaRPr>
          </a:p>
        </p:txBody>
      </p:sp>
      <p:sp>
        <p:nvSpPr>
          <p:cNvPr id="3" name="TextBox 2">
            <a:extLst>
              <a:ext uri="{FF2B5EF4-FFF2-40B4-BE49-F238E27FC236}">
                <a16:creationId xmlns:a16="http://schemas.microsoft.com/office/drawing/2014/main" id="{E1FD266A-121A-ED5D-529F-0A01669E211B}"/>
              </a:ext>
            </a:extLst>
          </p:cNvPr>
          <p:cNvSpPr txBox="1"/>
          <p:nvPr/>
        </p:nvSpPr>
        <p:spPr>
          <a:xfrm>
            <a:off x="914285" y="2048530"/>
            <a:ext cx="7315430" cy="2246769"/>
          </a:xfrm>
          <a:prstGeom prst="rect">
            <a:avLst/>
          </a:prstGeom>
          <a:noFill/>
        </p:spPr>
        <p:txBody>
          <a:bodyPr wrap="square" rtlCol="0">
            <a:spAutoFit/>
          </a:bodyPr>
          <a:lstStyle/>
          <a:p>
            <a:r>
              <a:rPr lang="en-US" sz="2800" b="1" dirty="0">
                <a:solidFill>
                  <a:schemeClr val="accent1"/>
                </a:solidFill>
              </a:rPr>
              <a:t>A: Click TAB ‘Layout’ at the bottom, type in command ‘print’, select the printer ‘Microsoft print to pdf’ in the dropdown menu, click preview to check, press ‘ESC’ to exit preview, click ’OK’ to save pdf. See next two slides</a:t>
            </a:r>
          </a:p>
        </p:txBody>
      </p:sp>
    </p:spTree>
    <p:extLst>
      <p:ext uri="{BB962C8B-B14F-4D97-AF65-F5344CB8AC3E}">
        <p14:creationId xmlns:p14="http://schemas.microsoft.com/office/powerpoint/2010/main" val="629317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C5F5F-4F55-6D63-91AD-1E95354C7FE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ECE830D-190D-B414-F574-E19681E25222}"/>
              </a:ext>
            </a:extLst>
          </p:cNvPr>
          <p:cNvPicPr>
            <a:picLocks noChangeAspect="1"/>
          </p:cNvPicPr>
          <p:nvPr/>
        </p:nvPicPr>
        <p:blipFill>
          <a:blip r:embed="rId2"/>
          <a:stretch>
            <a:fillRect/>
          </a:stretch>
        </p:blipFill>
        <p:spPr>
          <a:xfrm>
            <a:off x="22253" y="0"/>
            <a:ext cx="9099493" cy="5143500"/>
          </a:xfrm>
          <a:prstGeom prst="rect">
            <a:avLst/>
          </a:prstGeom>
        </p:spPr>
      </p:pic>
    </p:spTree>
    <p:extLst>
      <p:ext uri="{BB962C8B-B14F-4D97-AF65-F5344CB8AC3E}">
        <p14:creationId xmlns:p14="http://schemas.microsoft.com/office/powerpoint/2010/main" val="312970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2ED89-B4A2-1DED-55E0-77DDE8A7805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1E79862-795B-F9A6-693D-E6780E167EB9}"/>
              </a:ext>
            </a:extLst>
          </p:cNvPr>
          <p:cNvPicPr>
            <a:picLocks noChangeAspect="1"/>
          </p:cNvPicPr>
          <p:nvPr/>
        </p:nvPicPr>
        <p:blipFill>
          <a:blip r:embed="rId2"/>
          <a:stretch>
            <a:fillRect/>
          </a:stretch>
        </p:blipFill>
        <p:spPr>
          <a:xfrm>
            <a:off x="717503" y="0"/>
            <a:ext cx="7708993" cy="5143500"/>
          </a:xfrm>
          <a:prstGeom prst="rect">
            <a:avLst/>
          </a:prstGeom>
        </p:spPr>
      </p:pic>
    </p:spTree>
    <p:extLst>
      <p:ext uri="{BB962C8B-B14F-4D97-AF65-F5344CB8AC3E}">
        <p14:creationId xmlns:p14="http://schemas.microsoft.com/office/powerpoint/2010/main" val="2106879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61EB-E116-152A-38FA-D3C0496DB5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0CDEEC-3806-C762-09D6-30AE4E311FC0}"/>
              </a:ext>
            </a:extLst>
          </p:cNvPr>
          <p:cNvSpPr txBox="1"/>
          <p:nvPr/>
        </p:nvSpPr>
        <p:spPr>
          <a:xfrm>
            <a:off x="148385" y="89790"/>
            <a:ext cx="8150884" cy="400110"/>
          </a:xfrm>
          <a:prstGeom prst="rect">
            <a:avLst/>
          </a:prstGeom>
          <a:noFill/>
        </p:spPr>
        <p:txBody>
          <a:bodyPr wrap="square" rtlCol="0">
            <a:spAutoFit/>
          </a:bodyPr>
          <a:lstStyle/>
          <a:p>
            <a:r>
              <a:rPr lang="en-US" sz="2000" b="1" dirty="0"/>
              <a:t>WEEK </a:t>
            </a:r>
            <a:r>
              <a:rPr lang="en-US" altLang="zh-CN" sz="2000" b="1" dirty="0"/>
              <a:t>6</a:t>
            </a:r>
            <a:r>
              <a:rPr lang="en-US" sz="2000" b="1" dirty="0"/>
              <a:t> – RECAP - </a:t>
            </a:r>
            <a:r>
              <a:rPr lang="en-SG" sz="2000" b="1" dirty="0"/>
              <a:t>AUXILIARY PROJECTION - </a:t>
            </a:r>
            <a:r>
              <a:rPr lang="en-SG" sz="2000" b="1" dirty="0">
                <a:solidFill>
                  <a:srgbClr val="FF0000"/>
                </a:solidFill>
              </a:rPr>
              <a:t>PRECEDURES</a:t>
            </a:r>
            <a:endParaRPr lang="en-SG" sz="1600" dirty="0">
              <a:solidFill>
                <a:srgbClr val="FF0000"/>
              </a:solidFill>
            </a:endParaRPr>
          </a:p>
        </p:txBody>
      </p:sp>
      <p:sp>
        <p:nvSpPr>
          <p:cNvPr id="3" name="TextBox 2">
            <a:extLst>
              <a:ext uri="{FF2B5EF4-FFF2-40B4-BE49-F238E27FC236}">
                <a16:creationId xmlns:a16="http://schemas.microsoft.com/office/drawing/2014/main" id="{6345BFC1-82F7-910B-0FB3-8D5EF9B703B5}"/>
              </a:ext>
            </a:extLst>
          </p:cNvPr>
          <p:cNvSpPr txBox="1"/>
          <p:nvPr/>
        </p:nvSpPr>
        <p:spPr>
          <a:xfrm>
            <a:off x="827402" y="1354580"/>
            <a:ext cx="4533449" cy="400110"/>
          </a:xfrm>
          <a:prstGeom prst="rect">
            <a:avLst/>
          </a:prstGeom>
          <a:noFill/>
        </p:spPr>
        <p:txBody>
          <a:bodyPr wrap="square" rtlCol="0">
            <a:spAutoFit/>
          </a:bodyPr>
          <a:lstStyle/>
          <a:p>
            <a:r>
              <a:rPr lang="en-SG" sz="2000" b="1" dirty="0"/>
              <a:t>1. </a:t>
            </a:r>
            <a:r>
              <a:rPr lang="en-SG" sz="2000" b="1" dirty="0">
                <a:solidFill>
                  <a:srgbClr val="FF0000"/>
                </a:solidFill>
              </a:rPr>
              <a:t>R</a:t>
            </a:r>
            <a:r>
              <a:rPr lang="en-US" altLang="zh-CN" sz="2000" b="1" dirty="0" err="1">
                <a:solidFill>
                  <a:srgbClr val="FF0000"/>
                </a:solidFill>
              </a:rPr>
              <a:t>eproduce</a:t>
            </a:r>
            <a:r>
              <a:rPr lang="en-US" altLang="zh-CN" sz="2000" b="1" dirty="0">
                <a:solidFill>
                  <a:srgbClr val="FF0000"/>
                </a:solidFill>
              </a:rPr>
              <a:t> </a:t>
            </a:r>
            <a:r>
              <a:rPr lang="en-US" altLang="zh-CN" sz="2000" b="1" dirty="0"/>
              <a:t>the </a:t>
            </a:r>
            <a:r>
              <a:rPr lang="en-US" sz="2000" b="1" dirty="0"/>
              <a:t>principal</a:t>
            </a:r>
            <a:r>
              <a:rPr lang="en-US" altLang="zh-CN" sz="2000" b="1" dirty="0"/>
              <a:t> views</a:t>
            </a:r>
            <a:endParaRPr lang="en-SG" sz="1600" dirty="0"/>
          </a:p>
        </p:txBody>
      </p:sp>
      <p:sp>
        <p:nvSpPr>
          <p:cNvPr id="10" name="TextBox 9">
            <a:extLst>
              <a:ext uri="{FF2B5EF4-FFF2-40B4-BE49-F238E27FC236}">
                <a16:creationId xmlns:a16="http://schemas.microsoft.com/office/drawing/2014/main" id="{B2F4B397-AF1B-CCC7-AAF3-A08BB2C40511}"/>
              </a:ext>
            </a:extLst>
          </p:cNvPr>
          <p:cNvSpPr txBox="1"/>
          <p:nvPr/>
        </p:nvSpPr>
        <p:spPr>
          <a:xfrm>
            <a:off x="827401" y="1957000"/>
            <a:ext cx="7646358" cy="400110"/>
          </a:xfrm>
          <a:prstGeom prst="rect">
            <a:avLst/>
          </a:prstGeom>
          <a:noFill/>
        </p:spPr>
        <p:txBody>
          <a:bodyPr wrap="square" rtlCol="0">
            <a:spAutoFit/>
          </a:bodyPr>
          <a:lstStyle/>
          <a:p>
            <a:r>
              <a:rPr lang="en-SG" sz="2000" b="1" dirty="0"/>
              <a:t>2. </a:t>
            </a:r>
            <a:r>
              <a:rPr lang="en-SG" sz="2000" b="1" dirty="0">
                <a:solidFill>
                  <a:srgbClr val="FF0000"/>
                </a:solidFill>
              </a:rPr>
              <a:t>Projectors </a:t>
            </a:r>
            <a:r>
              <a:rPr lang="en-US" sz="2000" b="1" dirty="0">
                <a:solidFill>
                  <a:srgbClr val="FF0000"/>
                </a:solidFill>
              </a:rPr>
              <a:t>parallel </a:t>
            </a:r>
            <a:r>
              <a:rPr lang="en-US" sz="2000" b="1" dirty="0"/>
              <a:t>to the given direction from end points  </a:t>
            </a:r>
            <a:endParaRPr lang="en-SG" sz="1600" dirty="0"/>
          </a:p>
        </p:txBody>
      </p:sp>
      <p:sp>
        <p:nvSpPr>
          <p:cNvPr id="11" name="TextBox 10">
            <a:extLst>
              <a:ext uri="{FF2B5EF4-FFF2-40B4-BE49-F238E27FC236}">
                <a16:creationId xmlns:a16="http://schemas.microsoft.com/office/drawing/2014/main" id="{3EC4CAF4-AB49-F038-C76A-7757EF2C86CE}"/>
              </a:ext>
            </a:extLst>
          </p:cNvPr>
          <p:cNvSpPr txBox="1"/>
          <p:nvPr/>
        </p:nvSpPr>
        <p:spPr>
          <a:xfrm>
            <a:off x="827401" y="2521894"/>
            <a:ext cx="7646358" cy="400110"/>
          </a:xfrm>
          <a:prstGeom prst="rect">
            <a:avLst/>
          </a:prstGeom>
          <a:noFill/>
        </p:spPr>
        <p:txBody>
          <a:bodyPr wrap="square" rtlCol="0">
            <a:spAutoFit/>
          </a:bodyPr>
          <a:lstStyle/>
          <a:p>
            <a:r>
              <a:rPr lang="en-SG" sz="2000" b="1" dirty="0"/>
              <a:t>3. </a:t>
            </a:r>
            <a:r>
              <a:rPr lang="en-US" sz="2000" b="1" dirty="0">
                <a:solidFill>
                  <a:srgbClr val="FF0000"/>
                </a:solidFill>
              </a:rPr>
              <a:t>G</a:t>
            </a:r>
            <a:r>
              <a:rPr lang="en-US" altLang="zh-CN" sz="2000" b="1" dirty="0">
                <a:solidFill>
                  <a:srgbClr val="FF0000"/>
                </a:solidFill>
              </a:rPr>
              <a:t>round line </a:t>
            </a:r>
            <a:r>
              <a:rPr lang="en-US" altLang="zh-CN" sz="2000" b="1" dirty="0"/>
              <a:t>perpendicular to the projectors</a:t>
            </a:r>
            <a:endParaRPr lang="en-SG" sz="1600" dirty="0"/>
          </a:p>
        </p:txBody>
      </p:sp>
      <p:sp>
        <p:nvSpPr>
          <p:cNvPr id="12" name="TextBox 11">
            <a:extLst>
              <a:ext uri="{FF2B5EF4-FFF2-40B4-BE49-F238E27FC236}">
                <a16:creationId xmlns:a16="http://schemas.microsoft.com/office/drawing/2014/main" id="{696E73A2-DC85-C425-1B62-3A68A1BF11E3}"/>
              </a:ext>
            </a:extLst>
          </p:cNvPr>
          <p:cNvSpPr txBox="1"/>
          <p:nvPr/>
        </p:nvSpPr>
        <p:spPr>
          <a:xfrm>
            <a:off x="827401" y="3147113"/>
            <a:ext cx="7646358" cy="400110"/>
          </a:xfrm>
          <a:prstGeom prst="rect">
            <a:avLst/>
          </a:prstGeom>
          <a:noFill/>
        </p:spPr>
        <p:txBody>
          <a:bodyPr wrap="square" rtlCol="0">
            <a:spAutoFit/>
          </a:bodyPr>
          <a:lstStyle/>
          <a:p>
            <a:r>
              <a:rPr lang="en-SG" sz="2000" b="1" dirty="0"/>
              <a:t>4. </a:t>
            </a:r>
            <a:r>
              <a:rPr lang="en-US" sz="2000" b="1" dirty="0">
                <a:solidFill>
                  <a:srgbClr val="FF0000"/>
                </a:solidFill>
              </a:rPr>
              <a:t>Transfer</a:t>
            </a:r>
            <a:r>
              <a:rPr lang="en-US" sz="2000" b="1" dirty="0"/>
              <a:t> heights/widths</a:t>
            </a:r>
            <a:endParaRPr lang="en-SG" sz="1600" dirty="0"/>
          </a:p>
        </p:txBody>
      </p:sp>
    </p:spTree>
    <p:extLst>
      <p:ext uri="{BB962C8B-B14F-4D97-AF65-F5344CB8AC3E}">
        <p14:creationId xmlns:p14="http://schemas.microsoft.com/office/powerpoint/2010/main" val="3309710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CB4A-603E-06EB-8270-2CE2379F69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5EDDF4-24BC-D2A9-055C-55FA08094D40}"/>
              </a:ext>
            </a:extLst>
          </p:cNvPr>
          <p:cNvSpPr txBox="1"/>
          <p:nvPr/>
        </p:nvSpPr>
        <p:spPr>
          <a:xfrm>
            <a:off x="148384" y="536850"/>
            <a:ext cx="8908529" cy="400110"/>
          </a:xfrm>
          <a:prstGeom prst="rect">
            <a:avLst/>
          </a:prstGeom>
          <a:noFill/>
        </p:spPr>
        <p:txBody>
          <a:bodyPr wrap="square" rtlCol="0">
            <a:spAutoFit/>
          </a:bodyPr>
          <a:lstStyle/>
          <a:p>
            <a:r>
              <a:rPr lang="en-SG" sz="2000" b="1" dirty="0"/>
              <a:t>H</a:t>
            </a:r>
            <a:r>
              <a:rPr lang="en-US" altLang="zh-CN" sz="2000" b="1" dirty="0"/>
              <a:t>ow many points ? </a:t>
            </a:r>
            <a:r>
              <a:rPr lang="en-US" altLang="zh-CN" sz="2000" b="1" dirty="0">
                <a:solidFill>
                  <a:srgbClr val="FF0000"/>
                </a:solidFill>
              </a:rPr>
              <a:t>Up to you, usually two in the middle for a quarter of a circle.</a:t>
            </a:r>
            <a:endParaRPr lang="en-SG" sz="2000" b="1" dirty="0">
              <a:solidFill>
                <a:srgbClr val="FF0000"/>
              </a:solidFill>
            </a:endParaRPr>
          </a:p>
        </p:txBody>
      </p:sp>
      <p:sp>
        <p:nvSpPr>
          <p:cNvPr id="15" name="Partial Circle 14">
            <a:extLst>
              <a:ext uri="{FF2B5EF4-FFF2-40B4-BE49-F238E27FC236}">
                <a16:creationId xmlns:a16="http://schemas.microsoft.com/office/drawing/2014/main" id="{6BC66131-7736-4AE5-163A-2C4524466A13}"/>
              </a:ext>
            </a:extLst>
          </p:cNvPr>
          <p:cNvSpPr/>
          <p:nvPr/>
        </p:nvSpPr>
        <p:spPr>
          <a:xfrm>
            <a:off x="1313736" y="1907793"/>
            <a:ext cx="3111835" cy="3111835"/>
          </a:xfrm>
          <a:prstGeom prst="pie">
            <a:avLst>
              <a:gd name="adj1" fmla="val 10797228"/>
              <a:gd name="adj2" fmla="val 1618556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EF615D94-4BD8-D1D0-7FBE-CE2EFCFC1B5A}"/>
              </a:ext>
            </a:extLst>
          </p:cNvPr>
          <p:cNvSpPr txBox="1"/>
          <p:nvPr/>
        </p:nvSpPr>
        <p:spPr>
          <a:xfrm>
            <a:off x="1675688" y="1057835"/>
            <a:ext cx="1009486" cy="400110"/>
          </a:xfrm>
          <a:prstGeom prst="rect">
            <a:avLst/>
          </a:prstGeom>
          <a:noFill/>
        </p:spPr>
        <p:txBody>
          <a:bodyPr wrap="square" rtlCol="0">
            <a:spAutoFit/>
          </a:bodyPr>
          <a:lstStyle/>
          <a:p>
            <a:r>
              <a:rPr lang="en-US" sz="2000" b="1" dirty="0"/>
              <a:t>Way 1</a:t>
            </a:r>
            <a:endParaRPr lang="en-SG" sz="2000" b="1" dirty="0"/>
          </a:p>
        </p:txBody>
      </p:sp>
      <p:sp>
        <p:nvSpPr>
          <p:cNvPr id="9" name="Multiplication Sign 8">
            <a:extLst>
              <a:ext uri="{FF2B5EF4-FFF2-40B4-BE49-F238E27FC236}">
                <a16:creationId xmlns:a16="http://schemas.microsoft.com/office/drawing/2014/main" id="{D0D65740-AC89-062B-C0A0-0D012B2ED40B}"/>
              </a:ext>
            </a:extLst>
          </p:cNvPr>
          <p:cNvSpPr/>
          <p:nvPr/>
        </p:nvSpPr>
        <p:spPr>
          <a:xfrm>
            <a:off x="2685337" y="1742626"/>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Multiplication Sign 12">
            <a:extLst>
              <a:ext uri="{FF2B5EF4-FFF2-40B4-BE49-F238E27FC236}">
                <a16:creationId xmlns:a16="http://schemas.microsoft.com/office/drawing/2014/main" id="{20616771-64EE-66F9-DD39-F198FDEF96A3}"/>
              </a:ext>
            </a:extLst>
          </p:cNvPr>
          <p:cNvSpPr/>
          <p:nvPr/>
        </p:nvSpPr>
        <p:spPr>
          <a:xfrm>
            <a:off x="1148569" y="3298543"/>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Multiplication Sign 16">
            <a:extLst>
              <a:ext uri="{FF2B5EF4-FFF2-40B4-BE49-F238E27FC236}">
                <a16:creationId xmlns:a16="http://schemas.microsoft.com/office/drawing/2014/main" id="{F4E39156-4C15-1020-A7E0-6DAF192B121D}"/>
              </a:ext>
            </a:extLst>
          </p:cNvPr>
          <p:cNvSpPr/>
          <p:nvPr/>
        </p:nvSpPr>
        <p:spPr>
          <a:xfrm>
            <a:off x="2185811" y="1830130"/>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Multiplication Sign 17">
            <a:extLst>
              <a:ext uri="{FF2B5EF4-FFF2-40B4-BE49-F238E27FC236}">
                <a16:creationId xmlns:a16="http://schemas.microsoft.com/office/drawing/2014/main" id="{4240C1DE-829C-7C3A-486F-A3B39C6F40F0}"/>
              </a:ext>
            </a:extLst>
          </p:cNvPr>
          <p:cNvSpPr/>
          <p:nvPr/>
        </p:nvSpPr>
        <p:spPr>
          <a:xfrm>
            <a:off x="1675688" y="2152923"/>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9FC11F83-DB0C-738A-EA3E-C91D979E0F01}"/>
              </a:ext>
            </a:extLst>
          </p:cNvPr>
          <p:cNvCxnSpPr>
            <a:cxnSpLocks/>
          </p:cNvCxnSpPr>
          <p:nvPr/>
        </p:nvCxnSpPr>
        <p:spPr>
          <a:xfrm>
            <a:off x="2850503" y="1654629"/>
            <a:ext cx="14360" cy="2948489"/>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9CBD141-83DD-1296-1FE8-60B13CBD9A2B}"/>
              </a:ext>
            </a:extLst>
          </p:cNvPr>
          <p:cNvCxnSpPr>
            <a:cxnSpLocks/>
          </p:cNvCxnSpPr>
          <p:nvPr/>
        </p:nvCxnSpPr>
        <p:spPr>
          <a:xfrm>
            <a:off x="2348351" y="1654629"/>
            <a:ext cx="0" cy="2948489"/>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DCD2159-AAB7-297D-6DFC-DAE900DD0591}"/>
              </a:ext>
            </a:extLst>
          </p:cNvPr>
          <p:cNvCxnSpPr>
            <a:cxnSpLocks/>
          </p:cNvCxnSpPr>
          <p:nvPr/>
        </p:nvCxnSpPr>
        <p:spPr>
          <a:xfrm>
            <a:off x="1831839" y="1654629"/>
            <a:ext cx="0" cy="2948489"/>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047754E-C98B-3DF8-479B-E33BE6F63051}"/>
              </a:ext>
            </a:extLst>
          </p:cNvPr>
          <p:cNvCxnSpPr>
            <a:cxnSpLocks/>
          </p:cNvCxnSpPr>
          <p:nvPr/>
        </p:nvCxnSpPr>
        <p:spPr>
          <a:xfrm>
            <a:off x="1313735" y="1654629"/>
            <a:ext cx="1592" cy="2948489"/>
          </a:xfrm>
          <a:prstGeom prst="line">
            <a:avLst/>
          </a:prstGeom>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294B806-5594-0323-D22A-B2B963E8B77E}"/>
              </a:ext>
            </a:extLst>
          </p:cNvPr>
          <p:cNvSpPr txBox="1"/>
          <p:nvPr/>
        </p:nvSpPr>
        <p:spPr>
          <a:xfrm>
            <a:off x="148385" y="89790"/>
            <a:ext cx="8150884" cy="400110"/>
          </a:xfrm>
          <a:prstGeom prst="rect">
            <a:avLst/>
          </a:prstGeom>
          <a:noFill/>
        </p:spPr>
        <p:txBody>
          <a:bodyPr wrap="square" rtlCol="0">
            <a:spAutoFit/>
          </a:bodyPr>
          <a:lstStyle/>
          <a:p>
            <a:r>
              <a:rPr lang="en-US" sz="2000" b="1" dirty="0"/>
              <a:t>WEEK </a:t>
            </a:r>
            <a:r>
              <a:rPr lang="en-US" altLang="zh-CN" sz="2000" b="1" dirty="0"/>
              <a:t>6</a:t>
            </a:r>
            <a:r>
              <a:rPr lang="en-US" sz="2000" b="1" dirty="0"/>
              <a:t> – RECAP - </a:t>
            </a:r>
            <a:r>
              <a:rPr lang="en-SG" sz="2000" b="1" dirty="0"/>
              <a:t>AUXILIARY PROJECTION - </a:t>
            </a:r>
            <a:r>
              <a:rPr lang="en-SG" sz="2000" b="1" dirty="0">
                <a:solidFill>
                  <a:srgbClr val="FF0000"/>
                </a:solidFill>
              </a:rPr>
              <a:t>CURVES APPROXIMATION</a:t>
            </a:r>
            <a:endParaRPr lang="en-SG" sz="1600" dirty="0">
              <a:solidFill>
                <a:srgbClr val="FF0000"/>
              </a:solidFill>
            </a:endParaRPr>
          </a:p>
        </p:txBody>
      </p:sp>
      <p:sp>
        <p:nvSpPr>
          <p:cNvPr id="29" name="TextBox 28">
            <a:extLst>
              <a:ext uri="{FF2B5EF4-FFF2-40B4-BE49-F238E27FC236}">
                <a16:creationId xmlns:a16="http://schemas.microsoft.com/office/drawing/2014/main" id="{F2F09157-09A7-14D8-ED7C-2F40ECA8E9C5}"/>
              </a:ext>
            </a:extLst>
          </p:cNvPr>
          <p:cNvSpPr txBox="1"/>
          <p:nvPr/>
        </p:nvSpPr>
        <p:spPr>
          <a:xfrm>
            <a:off x="1314958" y="3711413"/>
            <a:ext cx="598168" cy="369332"/>
          </a:xfrm>
          <a:prstGeom prst="rect">
            <a:avLst/>
          </a:prstGeom>
          <a:noFill/>
        </p:spPr>
        <p:txBody>
          <a:bodyPr wrap="square" rtlCol="0">
            <a:spAutoFit/>
          </a:bodyPr>
          <a:lstStyle/>
          <a:p>
            <a:r>
              <a:rPr lang="en-US" dirty="0"/>
              <a:t>R/3</a:t>
            </a:r>
          </a:p>
        </p:txBody>
      </p:sp>
      <p:sp>
        <p:nvSpPr>
          <p:cNvPr id="30" name="TextBox 29">
            <a:extLst>
              <a:ext uri="{FF2B5EF4-FFF2-40B4-BE49-F238E27FC236}">
                <a16:creationId xmlns:a16="http://schemas.microsoft.com/office/drawing/2014/main" id="{055339F1-2056-FFB9-2B32-DF797B2D2EE5}"/>
              </a:ext>
            </a:extLst>
          </p:cNvPr>
          <p:cNvSpPr txBox="1"/>
          <p:nvPr/>
        </p:nvSpPr>
        <p:spPr>
          <a:xfrm>
            <a:off x="1817109" y="3711413"/>
            <a:ext cx="598168" cy="369332"/>
          </a:xfrm>
          <a:prstGeom prst="rect">
            <a:avLst/>
          </a:prstGeom>
          <a:noFill/>
        </p:spPr>
        <p:txBody>
          <a:bodyPr wrap="square" rtlCol="0">
            <a:spAutoFit/>
          </a:bodyPr>
          <a:lstStyle/>
          <a:p>
            <a:r>
              <a:rPr lang="en-US" dirty="0"/>
              <a:t>R/3</a:t>
            </a:r>
          </a:p>
        </p:txBody>
      </p:sp>
      <p:sp>
        <p:nvSpPr>
          <p:cNvPr id="31" name="TextBox 30">
            <a:extLst>
              <a:ext uri="{FF2B5EF4-FFF2-40B4-BE49-F238E27FC236}">
                <a16:creationId xmlns:a16="http://schemas.microsoft.com/office/drawing/2014/main" id="{FA261254-0AC3-EB8A-70A2-E1AF23EE9BDB}"/>
              </a:ext>
            </a:extLst>
          </p:cNvPr>
          <p:cNvSpPr txBox="1"/>
          <p:nvPr/>
        </p:nvSpPr>
        <p:spPr>
          <a:xfrm>
            <a:off x="2333806" y="3711413"/>
            <a:ext cx="598168" cy="369332"/>
          </a:xfrm>
          <a:prstGeom prst="rect">
            <a:avLst/>
          </a:prstGeom>
          <a:noFill/>
        </p:spPr>
        <p:txBody>
          <a:bodyPr wrap="square" rtlCol="0">
            <a:spAutoFit/>
          </a:bodyPr>
          <a:lstStyle/>
          <a:p>
            <a:r>
              <a:rPr lang="en-US" dirty="0"/>
              <a:t>R/3</a:t>
            </a:r>
          </a:p>
        </p:txBody>
      </p:sp>
      <p:grpSp>
        <p:nvGrpSpPr>
          <p:cNvPr id="38" name="Group 37">
            <a:extLst>
              <a:ext uri="{FF2B5EF4-FFF2-40B4-BE49-F238E27FC236}">
                <a16:creationId xmlns:a16="http://schemas.microsoft.com/office/drawing/2014/main" id="{A392C3ED-8367-FE17-757A-EF458916643D}"/>
              </a:ext>
            </a:extLst>
          </p:cNvPr>
          <p:cNvGrpSpPr/>
          <p:nvPr/>
        </p:nvGrpSpPr>
        <p:grpSpPr>
          <a:xfrm>
            <a:off x="5319688" y="1736413"/>
            <a:ext cx="3277002" cy="3277002"/>
            <a:chOff x="4776915" y="1729859"/>
            <a:chExt cx="3277002" cy="3277002"/>
          </a:xfrm>
        </p:grpSpPr>
        <p:sp>
          <p:nvSpPr>
            <p:cNvPr id="24" name="Partial Circle 23">
              <a:extLst>
                <a:ext uri="{FF2B5EF4-FFF2-40B4-BE49-F238E27FC236}">
                  <a16:creationId xmlns:a16="http://schemas.microsoft.com/office/drawing/2014/main" id="{587A3A93-9D1E-72E5-F096-A272DC32FAC0}"/>
                </a:ext>
              </a:extLst>
            </p:cNvPr>
            <p:cNvSpPr/>
            <p:nvPr/>
          </p:nvSpPr>
          <p:spPr>
            <a:xfrm>
              <a:off x="4942082" y="1895026"/>
              <a:ext cx="3111835" cy="3111835"/>
            </a:xfrm>
            <a:prstGeom prst="pie">
              <a:avLst>
                <a:gd name="adj1" fmla="val 14370614"/>
                <a:gd name="adj2" fmla="val 1618556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33" name="Partial Circle 32">
              <a:extLst>
                <a:ext uri="{FF2B5EF4-FFF2-40B4-BE49-F238E27FC236}">
                  <a16:creationId xmlns:a16="http://schemas.microsoft.com/office/drawing/2014/main" id="{A5CD09C7-F73D-3683-4508-D2F1D8DCBDEA}"/>
                </a:ext>
              </a:extLst>
            </p:cNvPr>
            <p:cNvSpPr/>
            <p:nvPr/>
          </p:nvSpPr>
          <p:spPr>
            <a:xfrm>
              <a:off x="4942082" y="1895024"/>
              <a:ext cx="3111835" cy="3111835"/>
            </a:xfrm>
            <a:prstGeom prst="pie">
              <a:avLst>
                <a:gd name="adj1" fmla="val 10779264"/>
                <a:gd name="adj2" fmla="val 12398097"/>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34" name="Partial Circle 33">
              <a:extLst>
                <a:ext uri="{FF2B5EF4-FFF2-40B4-BE49-F238E27FC236}">
                  <a16:creationId xmlns:a16="http://schemas.microsoft.com/office/drawing/2014/main" id="{6FB94E0B-B518-3C58-4CAE-0CF1A6258833}"/>
                </a:ext>
              </a:extLst>
            </p:cNvPr>
            <p:cNvSpPr/>
            <p:nvPr/>
          </p:nvSpPr>
          <p:spPr>
            <a:xfrm>
              <a:off x="4942082" y="1895022"/>
              <a:ext cx="3111835" cy="3111835"/>
            </a:xfrm>
            <a:prstGeom prst="pie">
              <a:avLst>
                <a:gd name="adj1" fmla="val 12408755"/>
                <a:gd name="adj2" fmla="val 1436776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25" name="Multiplication Sign 24">
              <a:extLst>
                <a:ext uri="{FF2B5EF4-FFF2-40B4-BE49-F238E27FC236}">
                  <a16:creationId xmlns:a16="http://schemas.microsoft.com/office/drawing/2014/main" id="{951B6434-D151-B81A-5411-5753BFA71A94}"/>
                </a:ext>
              </a:extLst>
            </p:cNvPr>
            <p:cNvSpPr/>
            <p:nvPr/>
          </p:nvSpPr>
          <p:spPr>
            <a:xfrm>
              <a:off x="6313683" y="1729859"/>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 name="Multiplication Sign 27">
              <a:extLst>
                <a:ext uri="{FF2B5EF4-FFF2-40B4-BE49-F238E27FC236}">
                  <a16:creationId xmlns:a16="http://schemas.microsoft.com/office/drawing/2014/main" id="{60D9D109-E937-F5EF-921C-936C8CA8C7D9}"/>
                </a:ext>
              </a:extLst>
            </p:cNvPr>
            <p:cNvSpPr/>
            <p:nvPr/>
          </p:nvSpPr>
          <p:spPr>
            <a:xfrm>
              <a:off x="4942082" y="2560213"/>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Multiplication Sign 25">
              <a:extLst>
                <a:ext uri="{FF2B5EF4-FFF2-40B4-BE49-F238E27FC236}">
                  <a16:creationId xmlns:a16="http://schemas.microsoft.com/office/drawing/2014/main" id="{C95311F9-8BE7-4593-70BC-BAC63E55816B}"/>
                </a:ext>
              </a:extLst>
            </p:cNvPr>
            <p:cNvSpPr/>
            <p:nvPr/>
          </p:nvSpPr>
          <p:spPr>
            <a:xfrm>
              <a:off x="4776915" y="3285776"/>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 name="Multiplication Sign 26">
              <a:extLst>
                <a:ext uri="{FF2B5EF4-FFF2-40B4-BE49-F238E27FC236}">
                  <a16:creationId xmlns:a16="http://schemas.microsoft.com/office/drawing/2014/main" id="{93CA6CFD-922C-8658-E149-5F5123D64923}"/>
                </a:ext>
              </a:extLst>
            </p:cNvPr>
            <p:cNvSpPr/>
            <p:nvPr/>
          </p:nvSpPr>
          <p:spPr>
            <a:xfrm>
              <a:off x="5559928" y="1910186"/>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5E46D6F0-86C3-531E-FCEB-06872B2403EB}"/>
                </a:ext>
              </a:extLst>
            </p:cNvPr>
            <p:cNvSpPr txBox="1"/>
            <p:nvPr/>
          </p:nvSpPr>
          <p:spPr>
            <a:xfrm>
              <a:off x="5300736" y="3069690"/>
              <a:ext cx="699469" cy="646331"/>
            </a:xfrm>
            <a:prstGeom prst="rect">
              <a:avLst/>
            </a:prstGeom>
            <a:noFill/>
          </p:spPr>
          <p:txBody>
            <a:bodyPr wrap="square" rtlCol="0">
              <a:spAutoFit/>
            </a:bodyPr>
            <a:lstStyle/>
            <a:p>
              <a:r>
                <a:rPr lang="en-US" dirty="0"/>
                <a:t>30°</a:t>
              </a:r>
            </a:p>
            <a:p>
              <a:endParaRPr lang="en-US" dirty="0"/>
            </a:p>
          </p:txBody>
        </p:sp>
        <p:sp>
          <p:nvSpPr>
            <p:cNvPr id="35" name="TextBox 34">
              <a:extLst>
                <a:ext uri="{FF2B5EF4-FFF2-40B4-BE49-F238E27FC236}">
                  <a16:creationId xmlns:a16="http://schemas.microsoft.com/office/drawing/2014/main" id="{227DA703-00DC-9729-36F6-9090FC346234}"/>
                </a:ext>
              </a:extLst>
            </p:cNvPr>
            <p:cNvSpPr txBox="1"/>
            <p:nvPr/>
          </p:nvSpPr>
          <p:spPr>
            <a:xfrm>
              <a:off x="5659390" y="2746524"/>
              <a:ext cx="699469" cy="646331"/>
            </a:xfrm>
            <a:prstGeom prst="rect">
              <a:avLst/>
            </a:prstGeom>
            <a:noFill/>
          </p:spPr>
          <p:txBody>
            <a:bodyPr wrap="square" rtlCol="0">
              <a:spAutoFit/>
            </a:bodyPr>
            <a:lstStyle/>
            <a:p>
              <a:r>
                <a:rPr lang="en-US" dirty="0"/>
                <a:t>30°</a:t>
              </a:r>
            </a:p>
            <a:p>
              <a:endParaRPr lang="en-US" dirty="0"/>
            </a:p>
          </p:txBody>
        </p:sp>
        <p:sp>
          <p:nvSpPr>
            <p:cNvPr id="36" name="TextBox 35">
              <a:extLst>
                <a:ext uri="{FF2B5EF4-FFF2-40B4-BE49-F238E27FC236}">
                  <a16:creationId xmlns:a16="http://schemas.microsoft.com/office/drawing/2014/main" id="{75708C4E-D3A9-7CA6-BD8D-7D2DFC5FE38D}"/>
                </a:ext>
              </a:extLst>
            </p:cNvPr>
            <p:cNvSpPr txBox="1"/>
            <p:nvPr/>
          </p:nvSpPr>
          <p:spPr>
            <a:xfrm>
              <a:off x="6046365" y="2483256"/>
              <a:ext cx="699469" cy="646331"/>
            </a:xfrm>
            <a:prstGeom prst="rect">
              <a:avLst/>
            </a:prstGeom>
            <a:noFill/>
          </p:spPr>
          <p:txBody>
            <a:bodyPr wrap="square" rtlCol="0">
              <a:spAutoFit/>
            </a:bodyPr>
            <a:lstStyle/>
            <a:p>
              <a:r>
                <a:rPr lang="en-US" dirty="0"/>
                <a:t>30°</a:t>
              </a:r>
            </a:p>
            <a:p>
              <a:endParaRPr lang="en-US" dirty="0"/>
            </a:p>
          </p:txBody>
        </p:sp>
      </p:grpSp>
      <p:sp>
        <p:nvSpPr>
          <p:cNvPr id="39" name="Rounded Rectangle 38">
            <a:extLst>
              <a:ext uri="{FF2B5EF4-FFF2-40B4-BE49-F238E27FC236}">
                <a16:creationId xmlns:a16="http://schemas.microsoft.com/office/drawing/2014/main" id="{C6DBCC20-8C7B-1408-7133-DD838AC0C79A}"/>
              </a:ext>
            </a:extLst>
          </p:cNvPr>
          <p:cNvSpPr/>
          <p:nvPr/>
        </p:nvSpPr>
        <p:spPr>
          <a:xfrm>
            <a:off x="1071154" y="3711413"/>
            <a:ext cx="2030563" cy="369332"/>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2AC3A83-252D-03A2-3232-E1EF943CC7D2}"/>
              </a:ext>
            </a:extLst>
          </p:cNvPr>
          <p:cNvSpPr txBox="1"/>
          <p:nvPr/>
        </p:nvSpPr>
        <p:spPr>
          <a:xfrm>
            <a:off x="37850" y="4516054"/>
            <a:ext cx="6164313" cy="369332"/>
          </a:xfrm>
          <a:prstGeom prst="rect">
            <a:avLst/>
          </a:prstGeom>
          <a:noFill/>
        </p:spPr>
        <p:txBody>
          <a:bodyPr wrap="square" rtlCol="0">
            <a:spAutoFit/>
          </a:bodyPr>
          <a:lstStyle/>
          <a:p>
            <a:r>
              <a:rPr lang="en-US" dirty="0">
                <a:solidFill>
                  <a:srgbClr val="FF0000"/>
                </a:solidFill>
              </a:rPr>
              <a:t>No need to be exact, e.g., when R=20, you can use 7+7+6 </a:t>
            </a:r>
          </a:p>
        </p:txBody>
      </p:sp>
      <p:sp>
        <p:nvSpPr>
          <p:cNvPr id="2" name="TextBox 1">
            <a:extLst>
              <a:ext uri="{FF2B5EF4-FFF2-40B4-BE49-F238E27FC236}">
                <a16:creationId xmlns:a16="http://schemas.microsoft.com/office/drawing/2014/main" id="{04B73FF8-5FFD-FE4B-F0F4-4DC6CCD1B13E}"/>
              </a:ext>
            </a:extLst>
          </p:cNvPr>
          <p:cNvSpPr txBox="1"/>
          <p:nvPr/>
        </p:nvSpPr>
        <p:spPr>
          <a:xfrm>
            <a:off x="5892146" y="1102045"/>
            <a:ext cx="1009486" cy="400110"/>
          </a:xfrm>
          <a:prstGeom prst="rect">
            <a:avLst/>
          </a:prstGeom>
          <a:noFill/>
        </p:spPr>
        <p:txBody>
          <a:bodyPr wrap="square" rtlCol="0">
            <a:spAutoFit/>
          </a:bodyPr>
          <a:lstStyle/>
          <a:p>
            <a:r>
              <a:rPr lang="en-US" sz="2000" b="1" dirty="0"/>
              <a:t>Way 2</a:t>
            </a:r>
            <a:endParaRPr lang="en-SG" sz="2000" b="1" dirty="0"/>
          </a:p>
        </p:txBody>
      </p:sp>
    </p:spTree>
    <p:extLst>
      <p:ext uri="{BB962C8B-B14F-4D97-AF65-F5344CB8AC3E}">
        <p14:creationId xmlns:p14="http://schemas.microsoft.com/office/powerpoint/2010/main" val="1823350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90B1-44C1-1776-DA97-1F2D97909E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98D064-E38F-2350-C034-784EE921A6F2}"/>
              </a:ext>
            </a:extLst>
          </p:cNvPr>
          <p:cNvSpPr txBox="1"/>
          <p:nvPr/>
        </p:nvSpPr>
        <p:spPr>
          <a:xfrm>
            <a:off x="148385" y="89790"/>
            <a:ext cx="7990254" cy="400110"/>
          </a:xfrm>
          <a:prstGeom prst="rect">
            <a:avLst/>
          </a:prstGeom>
          <a:noFill/>
        </p:spPr>
        <p:txBody>
          <a:bodyPr wrap="square" rtlCol="0">
            <a:spAutoFit/>
          </a:bodyPr>
          <a:lstStyle/>
          <a:p>
            <a:r>
              <a:rPr lang="en-SG" sz="2000" b="1" dirty="0"/>
              <a:t>AUXILIARY PROJECTION – </a:t>
            </a:r>
            <a:r>
              <a:rPr lang="en-SG" sz="2000" b="1" dirty="0">
                <a:solidFill>
                  <a:srgbClr val="FF0000"/>
                </a:solidFill>
              </a:rPr>
              <a:t>FURTHEST POINTS OF A CYLINDER</a:t>
            </a:r>
            <a:endParaRPr lang="en-SG" sz="1600" dirty="0">
              <a:solidFill>
                <a:srgbClr val="FF0000"/>
              </a:solidFill>
            </a:endParaRPr>
          </a:p>
        </p:txBody>
      </p:sp>
      <p:sp>
        <p:nvSpPr>
          <p:cNvPr id="4" name="Oval 3">
            <a:extLst>
              <a:ext uri="{FF2B5EF4-FFF2-40B4-BE49-F238E27FC236}">
                <a16:creationId xmlns:a16="http://schemas.microsoft.com/office/drawing/2014/main" id="{ECD82855-0258-8D86-1B62-EE2111BF72C5}"/>
              </a:ext>
            </a:extLst>
          </p:cNvPr>
          <p:cNvSpPr/>
          <p:nvPr/>
        </p:nvSpPr>
        <p:spPr>
          <a:xfrm>
            <a:off x="1627726" y="1245631"/>
            <a:ext cx="2336268" cy="2336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82F3A830-CF9C-F1E1-AD35-3EC24C6EBAFF}"/>
              </a:ext>
            </a:extLst>
          </p:cNvPr>
          <p:cNvCxnSpPr>
            <a:cxnSpLocks/>
          </p:cNvCxnSpPr>
          <p:nvPr/>
        </p:nvCxnSpPr>
        <p:spPr>
          <a:xfrm flipV="1">
            <a:off x="311183" y="3143399"/>
            <a:ext cx="1077173" cy="494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1AAF58C-36BE-04EE-3B04-13A38B235936}"/>
              </a:ext>
            </a:extLst>
          </p:cNvPr>
          <p:cNvCxnSpPr>
            <a:cxnSpLocks/>
          </p:cNvCxnSpPr>
          <p:nvPr/>
        </p:nvCxnSpPr>
        <p:spPr>
          <a:xfrm flipV="1">
            <a:off x="560130" y="509948"/>
            <a:ext cx="3483414" cy="1633413"/>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D79DF2A-B103-921B-4BDE-E16FDDE1E455}"/>
              </a:ext>
            </a:extLst>
          </p:cNvPr>
          <p:cNvCxnSpPr>
            <a:cxnSpLocks/>
          </p:cNvCxnSpPr>
          <p:nvPr/>
        </p:nvCxnSpPr>
        <p:spPr>
          <a:xfrm flipV="1">
            <a:off x="1627726" y="2629983"/>
            <a:ext cx="3483414" cy="163341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4E4948D-1DB3-2E86-66F7-DA40CC47DCEE}"/>
              </a:ext>
            </a:extLst>
          </p:cNvPr>
          <p:cNvCxnSpPr/>
          <p:nvPr/>
        </p:nvCxnSpPr>
        <p:spPr>
          <a:xfrm flipH="1" flipV="1">
            <a:off x="1838373" y="509948"/>
            <a:ext cx="1914974" cy="3817893"/>
          </a:xfrm>
          <a:prstGeom prst="line">
            <a:avLst/>
          </a:prstGeom>
        </p:spPr>
        <p:style>
          <a:lnRef idx="2">
            <a:schemeClr val="accent2"/>
          </a:lnRef>
          <a:fillRef idx="0">
            <a:schemeClr val="accent2"/>
          </a:fillRef>
          <a:effectRef idx="1">
            <a:schemeClr val="accent2"/>
          </a:effectRef>
          <a:fontRef idx="minor">
            <a:schemeClr val="tx1"/>
          </a:fontRef>
        </p:style>
      </p:cxnSp>
      <p:sp>
        <p:nvSpPr>
          <p:cNvPr id="17" name="Multiplication Sign 16">
            <a:extLst>
              <a:ext uri="{FF2B5EF4-FFF2-40B4-BE49-F238E27FC236}">
                <a16:creationId xmlns:a16="http://schemas.microsoft.com/office/drawing/2014/main" id="{69DD0173-AE5E-07DC-B873-6B1B7EBA1A4A}"/>
              </a:ext>
            </a:extLst>
          </p:cNvPr>
          <p:cNvSpPr/>
          <p:nvPr/>
        </p:nvSpPr>
        <p:spPr>
          <a:xfrm>
            <a:off x="2630693" y="2248598"/>
            <a:ext cx="330333" cy="330333"/>
          </a:xfrm>
          <a:prstGeom prst="mathMultiply">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3694D13E-10E9-DE83-96E2-5C8B0979D907}"/>
              </a:ext>
            </a:extLst>
          </p:cNvPr>
          <p:cNvCxnSpPr>
            <a:cxnSpLocks/>
          </p:cNvCxnSpPr>
          <p:nvPr/>
        </p:nvCxnSpPr>
        <p:spPr>
          <a:xfrm>
            <a:off x="2360023" y="1323703"/>
            <a:ext cx="3187337" cy="13062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D930BE9F-5336-F947-8238-D8310ED7A275}"/>
              </a:ext>
            </a:extLst>
          </p:cNvPr>
          <p:cNvCxnSpPr>
            <a:cxnSpLocks/>
          </p:cNvCxnSpPr>
          <p:nvPr/>
        </p:nvCxnSpPr>
        <p:spPr>
          <a:xfrm flipV="1">
            <a:off x="3361509" y="1672046"/>
            <a:ext cx="2185851" cy="17591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EC40E335-EF1D-21E1-7E58-0D22767B2094}"/>
              </a:ext>
            </a:extLst>
          </p:cNvPr>
          <p:cNvSpPr/>
          <p:nvPr/>
        </p:nvSpPr>
        <p:spPr>
          <a:xfrm>
            <a:off x="2133597" y="1219504"/>
            <a:ext cx="278369" cy="278369"/>
          </a:xfrm>
          <a:prstGeom prst="ellipse">
            <a:avLst/>
          </a:prstGeom>
          <a:noFill/>
          <a:ln w="38100">
            <a:solidFill>
              <a:srgbClr val="FF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5655CF6-9B2F-1853-71A2-A344E0AAF99D}"/>
              </a:ext>
            </a:extLst>
          </p:cNvPr>
          <p:cNvSpPr/>
          <p:nvPr/>
        </p:nvSpPr>
        <p:spPr>
          <a:xfrm>
            <a:off x="3174275" y="3313926"/>
            <a:ext cx="278369" cy="278369"/>
          </a:xfrm>
          <a:prstGeom prst="ellipse">
            <a:avLst/>
          </a:prstGeom>
          <a:noFill/>
          <a:ln w="38100">
            <a:solidFill>
              <a:srgbClr val="FF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D3AD464-933F-8BB2-5115-A5991CCE1829}"/>
              </a:ext>
            </a:extLst>
          </p:cNvPr>
          <p:cNvSpPr txBox="1"/>
          <p:nvPr/>
        </p:nvSpPr>
        <p:spPr>
          <a:xfrm>
            <a:off x="5547360" y="1071881"/>
            <a:ext cx="3483414" cy="1200329"/>
          </a:xfrm>
          <a:prstGeom prst="rect">
            <a:avLst/>
          </a:prstGeom>
          <a:noFill/>
        </p:spPr>
        <p:txBody>
          <a:bodyPr wrap="square" rtlCol="0">
            <a:spAutoFit/>
          </a:bodyPr>
          <a:lstStyle/>
          <a:p>
            <a:r>
              <a:rPr lang="en-US" dirty="0">
                <a:solidFill>
                  <a:srgbClr val="FF0000"/>
                </a:solidFill>
              </a:rPr>
              <a:t>Pay attention to these furthest points, usually you need a line (visible – solid; invisible - dashed) to indicate them. See next slide.</a:t>
            </a:r>
          </a:p>
        </p:txBody>
      </p:sp>
    </p:spTree>
    <p:extLst>
      <p:ext uri="{BB962C8B-B14F-4D97-AF65-F5344CB8AC3E}">
        <p14:creationId xmlns:p14="http://schemas.microsoft.com/office/powerpoint/2010/main" val="169638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94ADF-B124-0EFE-0834-2667007AEF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AA34E1-766F-CAD8-2A2B-C5FDE63BA2B0}"/>
              </a:ext>
            </a:extLst>
          </p:cNvPr>
          <p:cNvSpPr txBox="1"/>
          <p:nvPr/>
        </p:nvSpPr>
        <p:spPr>
          <a:xfrm>
            <a:off x="148385" y="89790"/>
            <a:ext cx="7990254" cy="400110"/>
          </a:xfrm>
          <a:prstGeom prst="rect">
            <a:avLst/>
          </a:prstGeom>
          <a:noFill/>
        </p:spPr>
        <p:txBody>
          <a:bodyPr wrap="square" rtlCol="0">
            <a:spAutoFit/>
          </a:bodyPr>
          <a:lstStyle/>
          <a:p>
            <a:r>
              <a:rPr lang="en-SG" sz="2000" b="1" dirty="0"/>
              <a:t>AUXILIARY PROJECTION – </a:t>
            </a:r>
            <a:r>
              <a:rPr lang="en-SG" sz="2000" b="1" dirty="0">
                <a:solidFill>
                  <a:srgbClr val="FF0000"/>
                </a:solidFill>
              </a:rPr>
              <a:t>EDGE OF COLUMNS</a:t>
            </a:r>
            <a:endParaRPr lang="en-SG" sz="1600" dirty="0">
              <a:solidFill>
                <a:srgbClr val="FF0000"/>
              </a:solidFill>
            </a:endParaRPr>
          </a:p>
        </p:txBody>
      </p:sp>
      <mc:AlternateContent xmlns:mc="http://schemas.openxmlformats.org/markup-compatibility/2006">
        <mc:Choice xmlns:am3d="http://schemas.microsoft.com/office/drawing/2017/model3d" Requires="am3d">
          <p:graphicFrame>
            <p:nvGraphicFramePr>
              <p:cNvPr id="3" name="3D Model 2" descr="Light Gray Tube">
                <a:extLst>
                  <a:ext uri="{FF2B5EF4-FFF2-40B4-BE49-F238E27FC236}">
                    <a16:creationId xmlns:a16="http://schemas.microsoft.com/office/drawing/2014/main" id="{D73C5224-5B84-E288-0E79-EC91E8773993}"/>
                  </a:ext>
                </a:extLst>
              </p:cNvPr>
              <p:cNvGraphicFramePr>
                <a:graphicFrameLocks noChangeAspect="1"/>
              </p:cNvGraphicFramePr>
              <p:nvPr/>
            </p:nvGraphicFramePr>
            <p:xfrm>
              <a:off x="668282" y="976430"/>
              <a:ext cx="2263584" cy="3458734"/>
            </p:xfrm>
            <a:graphic>
              <a:graphicData uri="http://schemas.microsoft.com/office/drawing/2017/model3d">
                <am3d:model3d r:embed="rId2">
                  <am3d:spPr>
                    <a:xfrm>
                      <a:off x="0" y="0"/>
                      <a:ext cx="2263584" cy="3458734"/>
                    </a:xfrm>
                    <a:prstGeom prst="rect">
                      <a:avLst/>
                    </a:prstGeom>
                  </am3d:spPr>
                  <am3d:camera>
                    <am3d:pos x="0" y="0" z="62782805"/>
                    <am3d:up dx="0" dy="36000000" dz="0"/>
                    <am3d:lookAt x="0" y="0" z="0"/>
                    <am3d:perspective fov="2700000"/>
                  </am3d:camera>
                  <am3d:trans>
                    <am3d:meterPerModelUnit n="7159681" d="1000000"/>
                    <am3d:preTrans dx="22" dy="-18000000" dz="6"/>
                    <am3d:scale>
                      <am3d:sx n="1000000" d="1000000"/>
                      <am3d:sy n="1000000" d="1000000"/>
                      <am3d:sz n="1000000" d="1000000"/>
                    </am3d:scale>
                    <am3d:rot ax="2938419" ay="-73858" az="-84867"/>
                    <am3d:postTrans dx="0" dy="0" dz="0"/>
                  </am3d:trans>
                  <am3d:raster rName="Office3DRenderer" rVer="16.0.8326">
                    <am3d:blip r:embed="rId3"/>
                  </am3d:raster>
                  <am3d:objViewport viewportSz="395651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descr="Light Gray Tube">
                <a:extLst>
                  <a:ext uri="{FF2B5EF4-FFF2-40B4-BE49-F238E27FC236}">
                    <a16:creationId xmlns:a16="http://schemas.microsoft.com/office/drawing/2014/main" id="{D73C5224-5B84-E288-0E79-EC91E8773993}"/>
                  </a:ext>
                </a:extLst>
              </p:cNvPr>
              <p:cNvPicPr>
                <a:picLocks noGrp="1" noRot="1" noChangeAspect="1" noMove="1" noResize="1" noEditPoints="1" noAdjustHandles="1" noChangeArrowheads="1" noChangeShapeType="1" noCrop="1"/>
              </p:cNvPicPr>
              <p:nvPr/>
            </p:nvPicPr>
            <p:blipFill>
              <a:blip r:embed="rId3"/>
              <a:stretch>
                <a:fillRect/>
              </a:stretch>
            </p:blipFill>
            <p:spPr>
              <a:xfrm>
                <a:off x="668282" y="976430"/>
                <a:ext cx="2263584" cy="3458734"/>
              </a:xfrm>
              <a:prstGeom prst="rect">
                <a:avLst/>
              </a:prstGeom>
            </p:spPr>
          </p:pic>
        </mc:Fallback>
      </mc:AlternateContent>
      <p:sp>
        <p:nvSpPr>
          <p:cNvPr id="6" name="Rectangle 5">
            <a:extLst>
              <a:ext uri="{FF2B5EF4-FFF2-40B4-BE49-F238E27FC236}">
                <a16:creationId xmlns:a16="http://schemas.microsoft.com/office/drawing/2014/main" id="{AB7D0895-A145-F1F5-0BE9-5B79ADF6C33A}"/>
              </a:ext>
            </a:extLst>
          </p:cNvPr>
          <p:cNvSpPr/>
          <p:nvPr/>
        </p:nvSpPr>
        <p:spPr>
          <a:xfrm>
            <a:off x="3754608" y="1371206"/>
            <a:ext cx="1398729" cy="3063958"/>
          </a:xfrm>
          <a:prstGeom prst="rect">
            <a:avLst/>
          </a:prstGeom>
          <a:noFill/>
          <a:ln>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4BBB03F-4DAE-1E43-09C9-A2134B8268E0}"/>
              </a:ext>
            </a:extLst>
          </p:cNvPr>
          <p:cNvSpPr/>
          <p:nvPr/>
        </p:nvSpPr>
        <p:spPr>
          <a:xfrm>
            <a:off x="3322181" y="1371206"/>
            <a:ext cx="2263584" cy="3063958"/>
          </a:xfrm>
          <a:prstGeom prst="rect">
            <a:avLst/>
          </a:prstGeom>
          <a:noFill/>
          <a:ln>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83B04118-45E0-1848-C47A-527A51A4D394}"/>
              </a:ext>
            </a:extLst>
          </p:cNvPr>
          <p:cNvCxnSpPr>
            <a:cxnSpLocks/>
          </p:cNvCxnSpPr>
          <p:nvPr/>
        </p:nvCxnSpPr>
        <p:spPr>
          <a:xfrm flipV="1">
            <a:off x="3746731" y="1371206"/>
            <a:ext cx="2271462" cy="14811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E76C5513-B2B9-D958-5DD8-A814F66AD690}"/>
              </a:ext>
            </a:extLst>
          </p:cNvPr>
          <p:cNvCxnSpPr>
            <a:cxnSpLocks/>
          </p:cNvCxnSpPr>
          <p:nvPr/>
        </p:nvCxnSpPr>
        <p:spPr>
          <a:xfrm flipV="1">
            <a:off x="5161214" y="1371206"/>
            <a:ext cx="1050922" cy="14155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B8C848B-8F5E-FB34-FA1B-3FD17735BB06}"/>
              </a:ext>
            </a:extLst>
          </p:cNvPr>
          <p:cNvCxnSpPr>
            <a:cxnSpLocks/>
          </p:cNvCxnSpPr>
          <p:nvPr/>
        </p:nvCxnSpPr>
        <p:spPr>
          <a:xfrm flipV="1">
            <a:off x="3322181" y="1290119"/>
            <a:ext cx="2573522" cy="156228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C54FCF8-1D2E-1B6E-F803-50BF58F46BD5}"/>
              </a:ext>
            </a:extLst>
          </p:cNvPr>
          <p:cNvCxnSpPr>
            <a:cxnSpLocks/>
          </p:cNvCxnSpPr>
          <p:nvPr/>
        </p:nvCxnSpPr>
        <p:spPr>
          <a:xfrm flipV="1">
            <a:off x="5593642" y="1371206"/>
            <a:ext cx="726611" cy="141553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234872F-CA01-45F7-6CDA-6E5301488D4A}"/>
              </a:ext>
            </a:extLst>
          </p:cNvPr>
          <p:cNvSpPr txBox="1"/>
          <p:nvPr/>
        </p:nvSpPr>
        <p:spPr>
          <a:xfrm>
            <a:off x="5593642" y="62414"/>
            <a:ext cx="3483414" cy="1200329"/>
          </a:xfrm>
          <a:prstGeom prst="rect">
            <a:avLst/>
          </a:prstGeom>
          <a:noFill/>
        </p:spPr>
        <p:txBody>
          <a:bodyPr wrap="square" rtlCol="0">
            <a:spAutoFit/>
          </a:bodyPr>
          <a:lstStyle/>
          <a:p>
            <a:r>
              <a:rPr lang="en-US" dirty="0">
                <a:solidFill>
                  <a:srgbClr val="FF0000"/>
                </a:solidFill>
              </a:rPr>
              <a:t>Pay attention to these furthest points, usually you need a line (visible – solid; invisible - dashed) to indicate them. </a:t>
            </a:r>
          </a:p>
        </p:txBody>
      </p:sp>
    </p:spTree>
    <p:extLst>
      <p:ext uri="{BB962C8B-B14F-4D97-AF65-F5344CB8AC3E}">
        <p14:creationId xmlns:p14="http://schemas.microsoft.com/office/powerpoint/2010/main" val="142211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EA145-50D0-DAF2-D72C-EDFBA64C61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B92616-971D-3119-F77D-009CA075F040}"/>
              </a:ext>
            </a:extLst>
          </p:cNvPr>
          <p:cNvSpPr txBox="1"/>
          <p:nvPr/>
        </p:nvSpPr>
        <p:spPr>
          <a:xfrm>
            <a:off x="148385" y="89790"/>
            <a:ext cx="7990254" cy="400110"/>
          </a:xfrm>
          <a:prstGeom prst="rect">
            <a:avLst/>
          </a:prstGeom>
          <a:noFill/>
        </p:spPr>
        <p:txBody>
          <a:bodyPr wrap="square" rtlCol="0">
            <a:spAutoFit/>
          </a:bodyPr>
          <a:lstStyle/>
          <a:p>
            <a:r>
              <a:rPr lang="en-SG" sz="2000" b="1" dirty="0"/>
              <a:t>AUXILIARY PROJECTION – </a:t>
            </a:r>
            <a:r>
              <a:rPr lang="en-SG" sz="2000" b="1" dirty="0">
                <a:solidFill>
                  <a:srgbClr val="FF0000"/>
                </a:solidFill>
              </a:rPr>
              <a:t>HIDDEN LINES</a:t>
            </a:r>
            <a:endParaRPr lang="en-SG" sz="1600" dirty="0">
              <a:solidFill>
                <a:srgbClr val="FF0000"/>
              </a:solidFill>
            </a:endParaRPr>
          </a:p>
        </p:txBody>
      </p:sp>
      <p:sp>
        <p:nvSpPr>
          <p:cNvPr id="5" name="TextBox 4">
            <a:extLst>
              <a:ext uri="{FF2B5EF4-FFF2-40B4-BE49-F238E27FC236}">
                <a16:creationId xmlns:a16="http://schemas.microsoft.com/office/drawing/2014/main" id="{456D6B0F-D259-4366-2CA3-2F6575998E92}"/>
              </a:ext>
            </a:extLst>
          </p:cNvPr>
          <p:cNvSpPr txBox="1"/>
          <p:nvPr/>
        </p:nvSpPr>
        <p:spPr>
          <a:xfrm>
            <a:off x="322387" y="517589"/>
            <a:ext cx="8499226" cy="1318181"/>
          </a:xfrm>
          <a:prstGeom prst="rect">
            <a:avLst/>
          </a:prstGeom>
          <a:noFill/>
        </p:spPr>
        <p:txBody>
          <a:bodyPr wrap="square" rtlCol="0">
            <a:spAutoFit/>
          </a:bodyPr>
          <a:lstStyle/>
          <a:p>
            <a:pPr>
              <a:lnSpc>
                <a:spcPct val="150000"/>
              </a:lnSpc>
            </a:pPr>
            <a:r>
              <a:rPr lang="en-US" sz="2800" b="1" dirty="0">
                <a:solidFill>
                  <a:srgbClr val="FF0000"/>
                </a:solidFill>
              </a:rPr>
              <a:t>For visible lines or curves, use solid lines or curves;</a:t>
            </a:r>
          </a:p>
          <a:p>
            <a:pPr>
              <a:lnSpc>
                <a:spcPct val="150000"/>
              </a:lnSpc>
            </a:pPr>
            <a:r>
              <a:rPr lang="en-US" sz="2800" b="1" dirty="0">
                <a:solidFill>
                  <a:srgbClr val="FF0000"/>
                </a:solidFill>
              </a:rPr>
              <a:t>For invisible lines or curves, use dashed lines or curves.</a:t>
            </a:r>
          </a:p>
        </p:txBody>
      </p:sp>
      <p:pic>
        <p:nvPicPr>
          <p:cNvPr id="4" name="Picture 3">
            <a:extLst>
              <a:ext uri="{FF2B5EF4-FFF2-40B4-BE49-F238E27FC236}">
                <a16:creationId xmlns:a16="http://schemas.microsoft.com/office/drawing/2014/main" id="{EA6D1FE0-0C9F-57FD-3737-934FB1FCDF69}"/>
              </a:ext>
            </a:extLst>
          </p:cNvPr>
          <p:cNvPicPr>
            <a:picLocks noChangeAspect="1"/>
          </p:cNvPicPr>
          <p:nvPr/>
        </p:nvPicPr>
        <p:blipFill>
          <a:blip r:embed="rId2"/>
          <a:stretch>
            <a:fillRect/>
          </a:stretch>
        </p:blipFill>
        <p:spPr>
          <a:xfrm>
            <a:off x="1369488" y="1993192"/>
            <a:ext cx="6405024" cy="2797984"/>
          </a:xfrm>
          <a:prstGeom prst="rect">
            <a:avLst/>
          </a:prstGeom>
        </p:spPr>
      </p:pic>
      <p:sp>
        <p:nvSpPr>
          <p:cNvPr id="6" name="TextBox 5">
            <a:extLst>
              <a:ext uri="{FF2B5EF4-FFF2-40B4-BE49-F238E27FC236}">
                <a16:creationId xmlns:a16="http://schemas.microsoft.com/office/drawing/2014/main" id="{C02C220F-5E66-7800-D93C-645A7329CD4A}"/>
              </a:ext>
            </a:extLst>
          </p:cNvPr>
          <p:cNvSpPr txBox="1"/>
          <p:nvPr/>
        </p:nvSpPr>
        <p:spPr>
          <a:xfrm>
            <a:off x="2465906" y="2853485"/>
            <a:ext cx="5823210" cy="671851"/>
          </a:xfrm>
          <a:prstGeom prst="rect">
            <a:avLst/>
          </a:prstGeom>
          <a:noFill/>
        </p:spPr>
        <p:txBody>
          <a:bodyPr wrap="square" rtlCol="0">
            <a:spAutoFit/>
          </a:bodyPr>
          <a:lstStyle/>
          <a:p>
            <a:pPr>
              <a:lnSpc>
                <a:spcPct val="150000"/>
              </a:lnSpc>
            </a:pPr>
            <a:r>
              <a:rPr lang="en-US" sz="2800" b="1" dirty="0">
                <a:solidFill>
                  <a:srgbClr val="FF0000"/>
                </a:solidFill>
              </a:rPr>
              <a:t>Better make the linewidth 0.7 mm</a:t>
            </a:r>
          </a:p>
        </p:txBody>
      </p:sp>
      <p:cxnSp>
        <p:nvCxnSpPr>
          <p:cNvPr id="8" name="Straight Arrow Connector 7">
            <a:extLst>
              <a:ext uri="{FF2B5EF4-FFF2-40B4-BE49-F238E27FC236}">
                <a16:creationId xmlns:a16="http://schemas.microsoft.com/office/drawing/2014/main" id="{5B0C2D2C-A4B6-0D45-2F9A-03B56CF2CD35}"/>
              </a:ext>
            </a:extLst>
          </p:cNvPr>
          <p:cNvCxnSpPr/>
          <p:nvPr/>
        </p:nvCxnSpPr>
        <p:spPr>
          <a:xfrm flipH="1" flipV="1">
            <a:off x="1531214" y="2240009"/>
            <a:ext cx="627636" cy="613476"/>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1183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60EC8-46A6-A6BE-03D2-314A273158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F1DCED-7ADF-640E-B021-D2D8ECFF9DDB}"/>
              </a:ext>
            </a:extLst>
          </p:cNvPr>
          <p:cNvSpPr txBox="1"/>
          <p:nvPr/>
        </p:nvSpPr>
        <p:spPr>
          <a:xfrm>
            <a:off x="148385" y="89790"/>
            <a:ext cx="7990254" cy="400110"/>
          </a:xfrm>
          <a:prstGeom prst="rect">
            <a:avLst/>
          </a:prstGeom>
          <a:noFill/>
        </p:spPr>
        <p:txBody>
          <a:bodyPr wrap="square" rtlCol="0">
            <a:spAutoFit/>
          </a:bodyPr>
          <a:lstStyle/>
          <a:p>
            <a:r>
              <a:rPr lang="en-SG" sz="2000" b="1" dirty="0"/>
              <a:t>AUXILIARY PROJECTION – </a:t>
            </a:r>
            <a:r>
              <a:rPr lang="en-SG" sz="2000" b="1" dirty="0">
                <a:solidFill>
                  <a:srgbClr val="FF0000"/>
                </a:solidFill>
              </a:rPr>
              <a:t>BREAK AT A POINT</a:t>
            </a:r>
            <a:endParaRPr lang="en-SG" sz="1600" dirty="0">
              <a:solidFill>
                <a:srgbClr val="FF0000"/>
              </a:solidFill>
            </a:endParaRPr>
          </a:p>
        </p:txBody>
      </p:sp>
      <p:pic>
        <p:nvPicPr>
          <p:cNvPr id="6" name="Picture 5">
            <a:extLst>
              <a:ext uri="{FF2B5EF4-FFF2-40B4-BE49-F238E27FC236}">
                <a16:creationId xmlns:a16="http://schemas.microsoft.com/office/drawing/2014/main" id="{C3307647-8D81-F887-6CC1-E29DF6BAA0D0}"/>
              </a:ext>
            </a:extLst>
          </p:cNvPr>
          <p:cNvPicPr>
            <a:picLocks noChangeAspect="1"/>
          </p:cNvPicPr>
          <p:nvPr/>
        </p:nvPicPr>
        <p:blipFill>
          <a:blip r:embed="rId2"/>
          <a:stretch>
            <a:fillRect/>
          </a:stretch>
        </p:blipFill>
        <p:spPr>
          <a:xfrm>
            <a:off x="911000" y="840124"/>
            <a:ext cx="7142741" cy="2817475"/>
          </a:xfrm>
          <a:prstGeom prst="rect">
            <a:avLst/>
          </a:prstGeom>
        </p:spPr>
      </p:pic>
      <p:cxnSp>
        <p:nvCxnSpPr>
          <p:cNvPr id="7" name="Straight Arrow Connector 6">
            <a:extLst>
              <a:ext uri="{FF2B5EF4-FFF2-40B4-BE49-F238E27FC236}">
                <a16:creationId xmlns:a16="http://schemas.microsoft.com/office/drawing/2014/main" id="{F7FCA6C2-FA37-68DC-26DF-EC63D7420C89}"/>
              </a:ext>
            </a:extLst>
          </p:cNvPr>
          <p:cNvCxnSpPr>
            <a:cxnSpLocks/>
          </p:cNvCxnSpPr>
          <p:nvPr/>
        </p:nvCxnSpPr>
        <p:spPr>
          <a:xfrm flipH="1" flipV="1">
            <a:off x="4006318" y="2924612"/>
            <a:ext cx="627636" cy="876611"/>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36EDDAEF-1D9F-33C9-67AA-616A6317CF73}"/>
              </a:ext>
            </a:extLst>
          </p:cNvPr>
          <p:cNvSpPr txBox="1"/>
          <p:nvPr/>
        </p:nvSpPr>
        <p:spPr>
          <a:xfrm>
            <a:off x="735169" y="3571601"/>
            <a:ext cx="7494402" cy="1318181"/>
          </a:xfrm>
          <a:prstGeom prst="rect">
            <a:avLst/>
          </a:prstGeom>
          <a:noFill/>
        </p:spPr>
        <p:txBody>
          <a:bodyPr wrap="square" rtlCol="0">
            <a:spAutoFit/>
          </a:bodyPr>
          <a:lstStyle/>
          <a:p>
            <a:pPr>
              <a:lnSpc>
                <a:spcPct val="150000"/>
              </a:lnSpc>
            </a:pPr>
            <a:r>
              <a:rPr lang="en-US" sz="2800" b="1" dirty="0">
                <a:solidFill>
                  <a:srgbClr val="FF0000"/>
                </a:solidFill>
              </a:rPr>
              <a:t>! You can use this to break a line/curve at a point, making it into two parts</a:t>
            </a:r>
          </a:p>
        </p:txBody>
      </p:sp>
    </p:spTree>
    <p:extLst>
      <p:ext uri="{BB962C8B-B14F-4D97-AF65-F5344CB8AC3E}">
        <p14:creationId xmlns:p14="http://schemas.microsoft.com/office/powerpoint/2010/main" val="1088682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2EC20-F50F-3816-546D-274770E419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92D702-93DA-FC5F-A41D-7EC1493D817F}"/>
              </a:ext>
            </a:extLst>
          </p:cNvPr>
          <p:cNvSpPr txBox="1"/>
          <p:nvPr/>
        </p:nvSpPr>
        <p:spPr>
          <a:xfrm>
            <a:off x="148384" y="89790"/>
            <a:ext cx="8889177" cy="400110"/>
          </a:xfrm>
          <a:prstGeom prst="rect">
            <a:avLst/>
          </a:prstGeom>
          <a:noFill/>
        </p:spPr>
        <p:txBody>
          <a:bodyPr wrap="square" rtlCol="0">
            <a:spAutoFit/>
          </a:bodyPr>
          <a:lstStyle/>
          <a:p>
            <a:r>
              <a:rPr lang="en-SG" sz="2000" b="1" dirty="0"/>
              <a:t>AUXILIARY PROJECTION – </a:t>
            </a:r>
            <a:r>
              <a:rPr lang="en-SG" sz="2000" b="1" dirty="0">
                <a:solidFill>
                  <a:srgbClr val="FF0000"/>
                </a:solidFill>
              </a:rPr>
              <a:t>HIDDEN LINES &amp; BREAK AT A POINT – EXAMPLE - Video</a:t>
            </a:r>
            <a:endParaRPr lang="en-SG" sz="1600" dirty="0">
              <a:solidFill>
                <a:srgbClr val="FF0000"/>
              </a:solidFill>
            </a:endParaRPr>
          </a:p>
        </p:txBody>
      </p:sp>
      <p:pic>
        <p:nvPicPr>
          <p:cNvPr id="9" name="Recording 2026-02-13 152716">
            <a:hlinkClick r:id="" action="ppaction://media"/>
            <a:extLst>
              <a:ext uri="{FF2B5EF4-FFF2-40B4-BE49-F238E27FC236}">
                <a16:creationId xmlns:a16="http://schemas.microsoft.com/office/drawing/2014/main" id="{D099AAC3-1A44-4345-F5BF-BEE88EFED60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51542" y="489900"/>
            <a:ext cx="7642433" cy="4143632"/>
          </a:xfrm>
          <a:prstGeom prst="rect">
            <a:avLst/>
          </a:prstGeom>
        </p:spPr>
      </p:pic>
    </p:spTree>
    <p:extLst>
      <p:ext uri="{BB962C8B-B14F-4D97-AF65-F5344CB8AC3E}">
        <p14:creationId xmlns:p14="http://schemas.microsoft.com/office/powerpoint/2010/main" val="127930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433"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AC96-4092-04D2-CAC0-1A6886B3C2C2}"/>
            </a:ext>
          </a:extLst>
        </p:cNvPr>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3" name="3D Model 2" descr="Light Gray Cuboid">
                <a:extLst>
                  <a:ext uri="{FF2B5EF4-FFF2-40B4-BE49-F238E27FC236}">
                    <a16:creationId xmlns:a16="http://schemas.microsoft.com/office/drawing/2014/main" id="{05FBEEB2-15F8-1C2E-7BEE-8B24F94288CC}"/>
                  </a:ext>
                </a:extLst>
              </p:cNvPr>
              <p:cNvGraphicFramePr>
                <a:graphicFrameLocks noChangeAspect="1"/>
              </p:cNvGraphicFramePr>
              <p:nvPr/>
            </p:nvGraphicFramePr>
            <p:xfrm>
              <a:off x="603435" y="826568"/>
              <a:ext cx="3886955" cy="2312649"/>
            </p:xfrm>
            <a:graphic>
              <a:graphicData uri="http://schemas.microsoft.com/office/drawing/2017/model3d">
                <am3d:model3d r:embed="rId2">
                  <am3d:spPr>
                    <a:xfrm>
                      <a:off x="0" y="0"/>
                      <a:ext cx="3886955" cy="2312649"/>
                    </a:xfrm>
                    <a:prstGeom prst="rect">
                      <a:avLst/>
                    </a:prstGeom>
                  </am3d:spPr>
                  <am3d:camera>
                    <am3d:pos x="0" y="0" z="57664451"/>
                    <am3d:up dx="0" dy="36000000" dz="0"/>
                    <am3d:lookAt x="0" y="0" z="0"/>
                    <am3d:perspective fov="2700000"/>
                  </am3d:camera>
                  <am3d:trans>
                    <am3d:meterPerModelUnit n="4361393" d="1000000"/>
                    <am3d:preTrans dx="0" dy="-6493603" dz="0"/>
                    <am3d:scale>
                      <am3d:sx n="1000000" d="1000000"/>
                      <am3d:sy n="1000000" d="1000000"/>
                      <am3d:sz n="1000000" d="1000000"/>
                    </am3d:scale>
                    <am3d:rot ax="453566" ay="-1874177" az="-236207"/>
                    <am3d:postTrans dx="0" dy="0" dz="0"/>
                  </am3d:trans>
                  <am3d:raster rName="Office3DRenderer" rVer="16.0.8326">
                    <am3d:blip r:embed="rId3"/>
                  </am3d:raster>
                  <am3d:objViewport viewportSz="406399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descr="Light Gray Cuboid">
                <a:extLst>
                  <a:ext uri="{FF2B5EF4-FFF2-40B4-BE49-F238E27FC236}">
                    <a16:creationId xmlns:a16="http://schemas.microsoft.com/office/drawing/2014/main" id="{05FBEEB2-15F8-1C2E-7BEE-8B24F94288CC}"/>
                  </a:ext>
                </a:extLst>
              </p:cNvPr>
              <p:cNvPicPr>
                <a:picLocks noGrp="1" noRot="1" noChangeAspect="1" noMove="1" noResize="1" noEditPoints="1" noAdjustHandles="1" noChangeArrowheads="1" noChangeShapeType="1" noCrop="1"/>
              </p:cNvPicPr>
              <p:nvPr/>
            </p:nvPicPr>
            <p:blipFill>
              <a:blip r:embed="rId3"/>
              <a:stretch>
                <a:fillRect/>
              </a:stretch>
            </p:blipFill>
            <p:spPr>
              <a:xfrm>
                <a:off x="603435" y="826568"/>
                <a:ext cx="3886955" cy="2312649"/>
              </a:xfrm>
              <a:prstGeom prst="rect">
                <a:avLst/>
              </a:prstGeom>
            </p:spPr>
          </p:pic>
        </mc:Fallback>
      </mc:AlternateContent>
      <p:sp>
        <p:nvSpPr>
          <p:cNvPr id="4" name="Rectangle 3">
            <a:extLst>
              <a:ext uri="{FF2B5EF4-FFF2-40B4-BE49-F238E27FC236}">
                <a16:creationId xmlns:a16="http://schemas.microsoft.com/office/drawing/2014/main" id="{A205F48E-ACDB-F8DF-E388-225FB1A4C0E8}"/>
              </a:ext>
            </a:extLst>
          </p:cNvPr>
          <p:cNvSpPr/>
          <p:nvPr/>
        </p:nvSpPr>
        <p:spPr>
          <a:xfrm>
            <a:off x="5118565" y="1090636"/>
            <a:ext cx="1354844" cy="9718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987FC292-D588-ACA1-D17A-1E0DAE1199EF}"/>
              </a:ext>
            </a:extLst>
          </p:cNvPr>
          <p:cNvSpPr/>
          <p:nvPr/>
        </p:nvSpPr>
        <p:spPr>
          <a:xfrm>
            <a:off x="6036955" y="1090636"/>
            <a:ext cx="1354844" cy="9718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6054F42-76EE-C78D-1AE8-495634FB2CB8}"/>
              </a:ext>
            </a:extLst>
          </p:cNvPr>
          <p:cNvCxnSpPr/>
          <p:nvPr/>
        </p:nvCxnSpPr>
        <p:spPr>
          <a:xfrm>
            <a:off x="6473409" y="1090636"/>
            <a:ext cx="0" cy="971849"/>
          </a:xfrm>
          <a:prstGeom prst="line">
            <a:avLst/>
          </a:prstGeom>
          <a:ln w="19050">
            <a:prstDash val="lgDash"/>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035C9B04-94BA-3D8A-EC8F-6A0507DE0D85}"/>
              </a:ext>
            </a:extLst>
          </p:cNvPr>
          <p:cNvSpPr/>
          <p:nvPr/>
        </p:nvSpPr>
        <p:spPr>
          <a:xfrm>
            <a:off x="5156865" y="2571750"/>
            <a:ext cx="1354844" cy="9718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2819BB53-0CBD-92AA-0E0F-3B1DD28ABFD8}"/>
              </a:ext>
            </a:extLst>
          </p:cNvPr>
          <p:cNvSpPr/>
          <p:nvPr/>
        </p:nvSpPr>
        <p:spPr>
          <a:xfrm>
            <a:off x="6272337" y="2571750"/>
            <a:ext cx="1069193" cy="97184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ED449879-EDFB-BC08-5C98-6D3E382960BD}"/>
              </a:ext>
            </a:extLst>
          </p:cNvPr>
          <p:cNvSpPr txBox="1"/>
          <p:nvPr/>
        </p:nvSpPr>
        <p:spPr>
          <a:xfrm>
            <a:off x="148385" y="89790"/>
            <a:ext cx="7990254" cy="400110"/>
          </a:xfrm>
          <a:prstGeom prst="rect">
            <a:avLst/>
          </a:prstGeom>
          <a:noFill/>
        </p:spPr>
        <p:txBody>
          <a:bodyPr wrap="square" rtlCol="0">
            <a:spAutoFit/>
          </a:bodyPr>
          <a:lstStyle/>
          <a:p>
            <a:r>
              <a:rPr lang="en-SG" sz="2000" b="1" dirty="0"/>
              <a:t>AUXILIARY PROJECTION – </a:t>
            </a:r>
            <a:r>
              <a:rPr lang="en-SG" sz="2000" b="1" dirty="0">
                <a:solidFill>
                  <a:srgbClr val="FF0000"/>
                </a:solidFill>
              </a:rPr>
              <a:t>HIDDEN LINES</a:t>
            </a:r>
            <a:endParaRPr lang="en-SG" sz="1600" dirty="0">
              <a:solidFill>
                <a:srgbClr val="FF0000"/>
              </a:solidFill>
            </a:endParaRPr>
          </a:p>
        </p:txBody>
      </p:sp>
      <p:sp>
        <p:nvSpPr>
          <p:cNvPr id="2" name="TextBox 1">
            <a:extLst>
              <a:ext uri="{FF2B5EF4-FFF2-40B4-BE49-F238E27FC236}">
                <a16:creationId xmlns:a16="http://schemas.microsoft.com/office/drawing/2014/main" id="{3FDB1398-6DE4-0067-CE38-ABBBE1366CB2}"/>
              </a:ext>
            </a:extLst>
          </p:cNvPr>
          <p:cNvSpPr txBox="1"/>
          <p:nvPr/>
        </p:nvSpPr>
        <p:spPr>
          <a:xfrm>
            <a:off x="542609" y="3463104"/>
            <a:ext cx="8499226" cy="1318181"/>
          </a:xfrm>
          <a:prstGeom prst="rect">
            <a:avLst/>
          </a:prstGeom>
          <a:noFill/>
        </p:spPr>
        <p:txBody>
          <a:bodyPr wrap="square" rtlCol="0">
            <a:spAutoFit/>
          </a:bodyPr>
          <a:lstStyle/>
          <a:p>
            <a:pPr>
              <a:lnSpc>
                <a:spcPct val="150000"/>
              </a:lnSpc>
            </a:pPr>
            <a:r>
              <a:rPr lang="en-US" sz="2800" b="1" dirty="0">
                <a:solidFill>
                  <a:srgbClr val="FF0000"/>
                </a:solidFill>
              </a:rPr>
              <a:t>When a hidden line coincide with a solid line, only keep the solid line.</a:t>
            </a:r>
          </a:p>
        </p:txBody>
      </p:sp>
    </p:spTree>
    <p:extLst>
      <p:ext uri="{BB962C8B-B14F-4D97-AF65-F5344CB8AC3E}">
        <p14:creationId xmlns:p14="http://schemas.microsoft.com/office/powerpoint/2010/main" val="210246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6D79B-1552-F2B1-C23D-958523F3753D}"/>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DF3A074-FCC7-2352-38F7-5955D42B1CED}"/>
              </a:ext>
            </a:extLst>
          </p:cNvPr>
          <p:cNvSpPr txBox="1"/>
          <p:nvPr/>
        </p:nvSpPr>
        <p:spPr>
          <a:xfrm>
            <a:off x="148385" y="89790"/>
            <a:ext cx="7990254" cy="400110"/>
          </a:xfrm>
          <a:prstGeom prst="rect">
            <a:avLst/>
          </a:prstGeom>
          <a:noFill/>
        </p:spPr>
        <p:txBody>
          <a:bodyPr wrap="square" rtlCol="0">
            <a:spAutoFit/>
          </a:bodyPr>
          <a:lstStyle/>
          <a:p>
            <a:r>
              <a:rPr lang="en-SG" sz="2000" b="1" dirty="0"/>
              <a:t>AUXILIARY PROJECTION – </a:t>
            </a:r>
            <a:r>
              <a:rPr lang="en-SG" sz="2000" b="1" dirty="0">
                <a:solidFill>
                  <a:srgbClr val="FF0000"/>
                </a:solidFill>
              </a:rPr>
              <a:t>HIDDEN LINES</a:t>
            </a:r>
            <a:endParaRPr lang="en-SG" sz="1600" dirty="0">
              <a:solidFill>
                <a:srgbClr val="FF0000"/>
              </a:solidFill>
            </a:endParaRPr>
          </a:p>
        </p:txBody>
      </p:sp>
      <p:sp>
        <p:nvSpPr>
          <p:cNvPr id="2" name="TextBox 1">
            <a:extLst>
              <a:ext uri="{FF2B5EF4-FFF2-40B4-BE49-F238E27FC236}">
                <a16:creationId xmlns:a16="http://schemas.microsoft.com/office/drawing/2014/main" id="{2C37C5EF-435A-B006-DFE2-79C1E37D78B5}"/>
              </a:ext>
            </a:extLst>
          </p:cNvPr>
          <p:cNvSpPr txBox="1"/>
          <p:nvPr/>
        </p:nvSpPr>
        <p:spPr>
          <a:xfrm>
            <a:off x="3401922" y="1668171"/>
            <a:ext cx="5088935" cy="1318181"/>
          </a:xfrm>
          <a:prstGeom prst="rect">
            <a:avLst/>
          </a:prstGeom>
          <a:noFill/>
        </p:spPr>
        <p:txBody>
          <a:bodyPr wrap="square" rtlCol="0">
            <a:spAutoFit/>
          </a:bodyPr>
          <a:lstStyle/>
          <a:p>
            <a:pPr>
              <a:lnSpc>
                <a:spcPct val="150000"/>
              </a:lnSpc>
            </a:pPr>
            <a:r>
              <a:rPr lang="en-US" sz="2800" b="1" dirty="0">
                <a:solidFill>
                  <a:srgbClr val="FF0000"/>
                </a:solidFill>
              </a:rPr>
              <a:t>For point type, better to use option 2 – absolute units.</a:t>
            </a:r>
          </a:p>
        </p:txBody>
      </p:sp>
      <p:pic>
        <p:nvPicPr>
          <p:cNvPr id="11" name="Picture 10">
            <a:extLst>
              <a:ext uri="{FF2B5EF4-FFF2-40B4-BE49-F238E27FC236}">
                <a16:creationId xmlns:a16="http://schemas.microsoft.com/office/drawing/2014/main" id="{DF9AD99A-59BA-2D7B-66F0-F4F9C9BBDFA7}"/>
              </a:ext>
            </a:extLst>
          </p:cNvPr>
          <p:cNvPicPr>
            <a:picLocks noChangeAspect="1"/>
          </p:cNvPicPr>
          <p:nvPr/>
        </p:nvPicPr>
        <p:blipFill>
          <a:blip r:embed="rId2"/>
          <a:stretch>
            <a:fillRect/>
          </a:stretch>
        </p:blipFill>
        <p:spPr>
          <a:xfrm>
            <a:off x="428360" y="865376"/>
            <a:ext cx="2429214" cy="3315163"/>
          </a:xfrm>
          <a:prstGeom prst="rect">
            <a:avLst/>
          </a:prstGeom>
        </p:spPr>
      </p:pic>
    </p:spTree>
    <p:extLst>
      <p:ext uri="{BB962C8B-B14F-4D97-AF65-F5344CB8AC3E}">
        <p14:creationId xmlns:p14="http://schemas.microsoft.com/office/powerpoint/2010/main" val="2848120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330B9-B48A-DBCF-96DF-84D404243E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A72D38-BE59-84E2-BFA5-C66CEE330590}"/>
              </a:ext>
            </a:extLst>
          </p:cNvPr>
          <p:cNvSpPr txBox="1"/>
          <p:nvPr/>
        </p:nvSpPr>
        <p:spPr>
          <a:xfrm>
            <a:off x="2027532" y="1561733"/>
            <a:ext cx="5088935" cy="754694"/>
          </a:xfrm>
          <a:prstGeom prst="rect">
            <a:avLst/>
          </a:prstGeom>
          <a:noFill/>
        </p:spPr>
        <p:txBody>
          <a:bodyPr wrap="square" rtlCol="0">
            <a:spAutoFit/>
          </a:bodyPr>
          <a:lstStyle/>
          <a:p>
            <a:pPr algn="ctr">
              <a:lnSpc>
                <a:spcPct val="150000"/>
              </a:lnSpc>
            </a:pPr>
            <a:r>
              <a:rPr lang="en-US" sz="3200" b="1" dirty="0">
                <a:solidFill>
                  <a:srgbClr val="FF0000"/>
                </a:solidFill>
              </a:rPr>
              <a:t>Good luck </a:t>
            </a:r>
            <a:r>
              <a:rPr lang="en-US" altLang="zh-CN" sz="3200" b="1" dirty="0">
                <a:solidFill>
                  <a:srgbClr val="FF0000"/>
                </a:solidFill>
              </a:rPr>
              <a:t>with</a:t>
            </a:r>
            <a:r>
              <a:rPr lang="en-US" sz="3200" b="1" dirty="0">
                <a:solidFill>
                  <a:srgbClr val="FF0000"/>
                </a:solidFill>
              </a:rPr>
              <a:t> Quiz 1!</a:t>
            </a:r>
          </a:p>
        </p:txBody>
      </p:sp>
    </p:spTree>
    <p:extLst>
      <p:ext uri="{BB962C8B-B14F-4D97-AF65-F5344CB8AC3E}">
        <p14:creationId xmlns:p14="http://schemas.microsoft.com/office/powerpoint/2010/main" val="75628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6F871-2624-8CA5-10A4-526E2D9502E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E905F45-6EB8-6ED1-B7FC-8266293A3D49}"/>
              </a:ext>
            </a:extLst>
          </p:cNvPr>
          <p:cNvPicPr>
            <a:picLocks noChangeAspect="1"/>
          </p:cNvPicPr>
          <p:nvPr/>
        </p:nvPicPr>
        <p:blipFill>
          <a:blip r:embed="rId2"/>
          <a:stretch>
            <a:fillRect/>
          </a:stretch>
        </p:blipFill>
        <p:spPr>
          <a:xfrm>
            <a:off x="6127889" y="344696"/>
            <a:ext cx="2094929" cy="4554646"/>
          </a:xfrm>
          <a:prstGeom prst="rect">
            <a:avLst/>
          </a:prstGeom>
        </p:spPr>
      </p:pic>
      <p:pic>
        <p:nvPicPr>
          <p:cNvPr id="3" name="Picture 2">
            <a:extLst>
              <a:ext uri="{FF2B5EF4-FFF2-40B4-BE49-F238E27FC236}">
                <a16:creationId xmlns:a16="http://schemas.microsoft.com/office/drawing/2014/main" id="{BD1F1D94-BF01-9773-824C-FE402E312B92}"/>
              </a:ext>
            </a:extLst>
          </p:cNvPr>
          <p:cNvPicPr>
            <a:picLocks noChangeAspect="1"/>
          </p:cNvPicPr>
          <p:nvPr/>
        </p:nvPicPr>
        <p:blipFill>
          <a:blip r:embed="rId3"/>
          <a:stretch>
            <a:fillRect/>
          </a:stretch>
        </p:blipFill>
        <p:spPr>
          <a:xfrm>
            <a:off x="3524535" y="344695"/>
            <a:ext cx="2094929" cy="4554646"/>
          </a:xfrm>
          <a:prstGeom prst="rect">
            <a:avLst/>
          </a:prstGeom>
        </p:spPr>
      </p:pic>
      <p:sp>
        <p:nvSpPr>
          <p:cNvPr id="6" name="TextBox 5">
            <a:extLst>
              <a:ext uri="{FF2B5EF4-FFF2-40B4-BE49-F238E27FC236}">
                <a16:creationId xmlns:a16="http://schemas.microsoft.com/office/drawing/2014/main" id="{8C73A8F5-ABB5-A3BA-9166-9E8B9E2F2407}"/>
              </a:ext>
            </a:extLst>
          </p:cNvPr>
          <p:cNvSpPr txBox="1"/>
          <p:nvPr/>
        </p:nvSpPr>
        <p:spPr>
          <a:xfrm>
            <a:off x="148385" y="89790"/>
            <a:ext cx="4533449" cy="400110"/>
          </a:xfrm>
          <a:prstGeom prst="rect">
            <a:avLst/>
          </a:prstGeom>
          <a:noFill/>
        </p:spPr>
        <p:txBody>
          <a:bodyPr wrap="square" rtlCol="0">
            <a:spAutoFit/>
          </a:bodyPr>
          <a:lstStyle/>
          <a:p>
            <a:r>
              <a:rPr lang="en-SG" sz="2000" b="1" dirty="0"/>
              <a:t>SCAN TO DOWNLOAD THE SLIDES</a:t>
            </a:r>
            <a:endParaRPr lang="en-SG" sz="1600" dirty="0"/>
          </a:p>
        </p:txBody>
      </p:sp>
      <p:pic>
        <p:nvPicPr>
          <p:cNvPr id="4" name="Picture 3" descr="A qr code with a dinosaur&#10;&#10;AI-generated content may be incorrect.">
            <a:extLst>
              <a:ext uri="{FF2B5EF4-FFF2-40B4-BE49-F238E27FC236}">
                <a16:creationId xmlns:a16="http://schemas.microsoft.com/office/drawing/2014/main" id="{5E6AE354-B661-F4AF-8160-66A316454808}"/>
              </a:ext>
            </a:extLst>
          </p:cNvPr>
          <p:cNvPicPr>
            <a:picLocks noChangeAspect="1"/>
          </p:cNvPicPr>
          <p:nvPr/>
        </p:nvPicPr>
        <p:blipFill>
          <a:blip r:embed="rId4"/>
          <a:stretch>
            <a:fillRect/>
          </a:stretch>
        </p:blipFill>
        <p:spPr>
          <a:xfrm>
            <a:off x="230716" y="1143000"/>
            <a:ext cx="2857500" cy="2857500"/>
          </a:xfrm>
          <a:prstGeom prst="rect">
            <a:avLst/>
          </a:prstGeom>
        </p:spPr>
      </p:pic>
      <p:sp>
        <p:nvSpPr>
          <p:cNvPr id="10" name="Rounded Rectangle 9">
            <a:extLst>
              <a:ext uri="{FF2B5EF4-FFF2-40B4-BE49-F238E27FC236}">
                <a16:creationId xmlns:a16="http://schemas.microsoft.com/office/drawing/2014/main" id="{60DDE0AD-E736-7834-9770-6052B3973F69}"/>
              </a:ext>
            </a:extLst>
          </p:cNvPr>
          <p:cNvSpPr/>
          <p:nvPr/>
        </p:nvSpPr>
        <p:spPr>
          <a:xfrm>
            <a:off x="3649133" y="3606800"/>
            <a:ext cx="1032701" cy="211667"/>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1F4BC619-0BB6-4377-DAFE-60564F8DE541}"/>
              </a:ext>
            </a:extLst>
          </p:cNvPr>
          <p:cNvSpPr/>
          <p:nvPr/>
        </p:nvSpPr>
        <p:spPr>
          <a:xfrm>
            <a:off x="6832600" y="2219217"/>
            <a:ext cx="1032701" cy="211667"/>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84C5E3C-55BB-FCF1-AD31-DE3A0295D844}"/>
              </a:ext>
            </a:extLst>
          </p:cNvPr>
          <p:cNvCxnSpPr/>
          <p:nvPr/>
        </p:nvCxnSpPr>
        <p:spPr>
          <a:xfrm flipH="1">
            <a:off x="4681834" y="3268133"/>
            <a:ext cx="355833" cy="3386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FF23151-07FE-30CA-B197-14A5B86422C9}"/>
              </a:ext>
            </a:extLst>
          </p:cNvPr>
          <p:cNvCxnSpPr/>
          <p:nvPr/>
        </p:nvCxnSpPr>
        <p:spPr>
          <a:xfrm flipH="1">
            <a:off x="7762850" y="1913682"/>
            <a:ext cx="355833" cy="3386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4933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28E816AC679FF4C86C22834E825BD05" ma:contentTypeVersion="1" ma:contentTypeDescription="Create a new document." ma:contentTypeScope="" ma:versionID="066e42d507d75a122d0db91dd470f30a">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A540F8-4ACB-4DC8-920F-A3CE5A42B9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4D3FE7-A0C8-4453-A806-BCAD6F53B901}">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6CCB8030-6F99-446F-BD3B-E5E3F435F1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1476</TotalTime>
  <Words>558</Words>
  <Application>Microsoft Office PowerPoint</Application>
  <PresentationFormat>On-screen Show (16:9)</PresentationFormat>
  <Paragraphs>59</Paragraphs>
  <Slides>24</Slides>
  <Notes>0</Notes>
  <HiddenSlides>0</HiddenSlides>
  <MMClips>1</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Office Theme</vt:lpstr>
      <vt:lpstr>CV1711 ENGINEERING DRAWING &amp; 3D BUILD  INFO MODEL (LAB)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#CUI SHUAIWEN#</cp:lastModifiedBy>
  <cp:revision>86</cp:revision>
  <dcterms:created xsi:type="dcterms:W3CDTF">2017-05-14T01:29:56Z</dcterms:created>
  <dcterms:modified xsi:type="dcterms:W3CDTF">2026-02-13T07:40:41Z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0x010100E28E816AC679FF4C86C22834E825BD05</vt:lpwstr>
  </property>
</Properties>
</file>