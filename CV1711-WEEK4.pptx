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handoutMasterIdLst>
    <p:handoutMasterId r:id="rId22"/>
  </p:handoutMasterIdLst>
  <p:sldIdLst>
    <p:sldId id="259" r:id="rId5"/>
    <p:sldId id="262" r:id="rId6"/>
    <p:sldId id="270" r:id="rId7"/>
    <p:sldId id="330" r:id="rId8"/>
    <p:sldId id="271" r:id="rId9"/>
    <p:sldId id="272" r:id="rId10"/>
    <p:sldId id="275" r:id="rId11"/>
    <p:sldId id="282" r:id="rId12"/>
    <p:sldId id="276" r:id="rId13"/>
    <p:sldId id="287" r:id="rId14"/>
    <p:sldId id="283" r:id="rId15"/>
    <p:sldId id="284" r:id="rId16"/>
    <p:sldId id="285" r:id="rId17"/>
    <p:sldId id="286" r:id="rId18"/>
    <p:sldId id="288" r:id="rId19"/>
    <p:sldId id="266" r:id="rId20"/>
    <p:sldId id="269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3" autoAdjust="0"/>
    <p:restoredTop sz="94765"/>
  </p:normalViewPr>
  <p:slideViewPr>
    <p:cSldViewPr snapToGrid="0" snapToObjects="1" showGuides="1">
      <p:cViewPr varScale="1">
        <p:scale>
          <a:sx n="154" d="100"/>
          <a:sy n="154" d="100"/>
        </p:scale>
        <p:origin x="208" y="352"/>
      </p:cViewPr>
      <p:guideLst>
        <p:guide orient="horz" pos="157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9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 panose="020B0604020202090204"/>
              </a:rPr>
              <a:t>1/30/26</a:t>
            </a:fld>
            <a:endParaRPr lang="en-US" dirty="0">
              <a:latin typeface="Arial" panose="020B060402020209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9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 panose="020B0604020202090204"/>
              </a:rPr>
              <a:t>‹#›</a:t>
            </a:fld>
            <a:endParaRPr lang="en-US" dirty="0"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/>
              </a:defRPr>
            </a:lvl1pPr>
          </a:lstStyle>
          <a:p>
            <a:fld id="{9F1CC899-6CEC-9548-B06D-7E1EB6F78CA3}" type="datetimeFigureOut">
              <a:rPr lang="en-US" smtClean="0"/>
              <a:t>1/30/26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90204"/>
              </a:defRPr>
            </a:lvl1pPr>
          </a:lstStyle>
          <a:p>
            <a:fld id="{8E6562B1-0B0F-0246-9532-09536BC2AE5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Arial" panose="020B0604020202090204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Arial" panose="020B0604020202090204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Arial" panose="020B0604020202090204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Arial" panose="020B0604020202090204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Arial" panose="020B0604020202090204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youtu.be/heIobpUVZqc?si=No0iEweG8M1roWw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eIobpUVZq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 panose="020B0604020202090204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 panose="020B0604020202090204"/>
              </a:rPr>
            </a:br>
            <a:r>
              <a:rPr lang="en-US" sz="3000" b="1" dirty="0">
                <a:solidFill>
                  <a:schemeClr val="bg1"/>
                </a:solidFill>
                <a:cs typeface="Arial" panose="020B0604020202090204"/>
              </a:rPr>
              <a:t>INFO MODEL (LAB)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4 – Orthographic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140084" y="845735"/>
            <a:ext cx="6319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Let’s watch this </a:t>
            </a:r>
            <a:r>
              <a:rPr lang="en-GB" dirty="0" err="1"/>
              <a:t>youtube</a:t>
            </a:r>
            <a:r>
              <a:rPr lang="en-GB" dirty="0"/>
              <a:t> video for basic understandings.</a:t>
            </a:r>
          </a:p>
          <a:p>
            <a:r>
              <a:rPr lang="en-GB" i="1" dirty="0">
                <a:hlinkClick r:id="rId2"/>
              </a:rPr>
              <a:t>https://youtu.be/heIobpUVZqc?si=No0iEweG8M1roWwM</a:t>
            </a:r>
            <a:endParaRPr lang="en-GB" i="1" dirty="0"/>
          </a:p>
        </p:txBody>
      </p:sp>
      <p:pic>
        <p:nvPicPr>
          <p:cNvPr id="6" name="Picture 5" descr="A qr code with a dinosau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134" y="1492066"/>
            <a:ext cx="318135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quadrilateral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43" y="438950"/>
            <a:ext cx="4413757" cy="4166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395" y="85090"/>
            <a:ext cx="59169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/>
              <a:t>Quadrant System and Orthographic Projection</a:t>
            </a:r>
            <a:endParaRPr lang="en-SG" dirty="0"/>
          </a:p>
        </p:txBody>
      </p:sp>
      <p:grpSp>
        <p:nvGrpSpPr>
          <p:cNvPr id="17" name="Group 16"/>
          <p:cNvGrpSpPr/>
          <p:nvPr/>
        </p:nvGrpSpPr>
        <p:grpSpPr>
          <a:xfrm>
            <a:off x="4668476" y="177518"/>
            <a:ext cx="4012232" cy="4633559"/>
            <a:chOff x="1762866" y="-646885"/>
            <a:chExt cx="5574078" cy="643727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8" name="Speech Bubble: Rectangle 52"/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9" name="Parallelogram 8"/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/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Parallelogram 10"/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Parallelogram 11"/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Speech Bubble: Rectangle 51"/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395" y="85090"/>
            <a:ext cx="59169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/>
              <a:t>Quadrant System and Orthographic Projection</a:t>
            </a:r>
            <a:endParaRPr lang="en-SG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C0B196-09CE-6129-9E08-BED42C926A36}"/>
              </a:ext>
            </a:extLst>
          </p:cNvPr>
          <p:cNvGrpSpPr/>
          <p:nvPr/>
        </p:nvGrpSpPr>
        <p:grpSpPr>
          <a:xfrm>
            <a:off x="2420893" y="0"/>
            <a:ext cx="3958402" cy="5245783"/>
            <a:chOff x="3031301" y="-282"/>
            <a:chExt cx="3958402" cy="5245783"/>
          </a:xfrm>
        </p:grpSpPr>
        <p:grpSp>
          <p:nvGrpSpPr>
            <p:cNvPr id="17" name="Group 16"/>
            <p:cNvGrpSpPr/>
            <p:nvPr/>
          </p:nvGrpSpPr>
          <p:grpSpPr>
            <a:xfrm>
              <a:off x="3031301" y="-282"/>
              <a:ext cx="3958402" cy="4633559"/>
              <a:chOff x="1837651" y="-646885"/>
              <a:chExt cx="5499293" cy="6437270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156082"/>
                  </a:clrFrom>
                  <a:clrTo>
                    <a:srgbClr val="15608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flipH="1">
                <a:off x="1837651" y="3026502"/>
                <a:ext cx="2108697" cy="2312320"/>
              </a:xfrm>
              <a:prstGeom prst="rect">
                <a:avLst/>
              </a:prstGeom>
            </p:spPr>
          </p:pic>
          <p:sp>
            <p:nvSpPr>
              <p:cNvPr id="9" name="Parallelogram 8"/>
              <p:cNvSpPr/>
              <p:nvPr/>
            </p:nvSpPr>
            <p:spPr>
              <a:xfrm rot="16200000">
                <a:off x="2700133" y="702011"/>
                <a:ext cx="5985707" cy="3287915"/>
              </a:xfrm>
              <a:prstGeom prst="parallelogram">
                <a:avLst>
                  <a:gd name="adj" fmla="val 50708"/>
                </a:avLst>
              </a:prstGeom>
              <a:solidFill>
                <a:srgbClr val="4EA72E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0" name="Parallelogram 9"/>
              <p:cNvSpPr/>
              <p:nvPr/>
            </p:nvSpPr>
            <p:spPr>
              <a:xfrm rot="16200000" flipV="1">
                <a:off x="2788887" y="2907242"/>
                <a:ext cx="3480279" cy="2286007"/>
              </a:xfrm>
              <a:prstGeom prst="parallelogram">
                <a:avLst>
                  <a:gd name="adj" fmla="val 57036"/>
                </a:avLst>
              </a:prstGeom>
              <a:solidFill>
                <a:srgbClr val="4EA72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1" name="Parallelogram 10"/>
              <p:cNvSpPr/>
              <p:nvPr/>
            </p:nvSpPr>
            <p:spPr>
              <a:xfrm rot="9000000" flipV="1">
                <a:off x="2349326" y="1372596"/>
                <a:ext cx="4486946" cy="3248970"/>
              </a:xfrm>
              <a:prstGeom prst="parallelogram">
                <a:avLst>
                  <a:gd name="adj" fmla="val 58457"/>
                </a:avLst>
              </a:prstGeom>
              <a:solidFill>
                <a:srgbClr val="4EA72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2" name="Parallelogram 11"/>
              <p:cNvSpPr/>
              <p:nvPr/>
            </p:nvSpPr>
            <p:spPr>
              <a:xfrm rot="16200000" flipV="1">
                <a:off x="2827948" y="757290"/>
                <a:ext cx="3411685" cy="2276476"/>
              </a:xfrm>
              <a:prstGeom prst="parallelogram">
                <a:avLst>
                  <a:gd name="adj" fmla="val 57036"/>
                </a:avLst>
              </a:prstGeom>
              <a:solidFill>
                <a:srgbClr val="4EA72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156082"/>
                  </a:clrFrom>
                  <a:clrTo>
                    <a:srgbClr val="156082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flipH="1">
                <a:off x="4238408" y="1452876"/>
                <a:ext cx="2108697" cy="2312320"/>
              </a:xfrm>
              <a:prstGeom prst="rect">
                <a:avLst/>
              </a:prstGeom>
            </p:spPr>
          </p:pic>
        </p:grpSp>
        <p:sp>
          <p:nvSpPr>
            <p:cNvPr id="3" name="Parallelogram 2"/>
            <p:cNvSpPr/>
            <p:nvPr/>
          </p:nvSpPr>
          <p:spPr>
            <a:xfrm rot="16200000">
              <a:off x="2060808" y="1907916"/>
              <a:ext cx="4308523" cy="2366648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8265575-8288-2C46-4A80-341FE00C22ED}"/>
              </a:ext>
            </a:extLst>
          </p:cNvPr>
          <p:cNvGrpSpPr/>
          <p:nvPr/>
        </p:nvGrpSpPr>
        <p:grpSpPr>
          <a:xfrm>
            <a:off x="6506558" y="93874"/>
            <a:ext cx="2459461" cy="2477876"/>
            <a:chOff x="315408" y="1303370"/>
            <a:chExt cx="2979599" cy="3001908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6769316D-3409-207B-2AE3-FCF8F8CA129C}"/>
                </a:ext>
              </a:extLst>
            </p:cNvPr>
            <p:cNvSpPr/>
            <p:nvPr/>
          </p:nvSpPr>
          <p:spPr>
            <a:xfrm rot="16200000">
              <a:off x="1498475" y="1755625"/>
              <a:ext cx="2043968" cy="1139458"/>
            </a:xfrm>
            <a:prstGeom prst="parallelogram">
              <a:avLst>
                <a:gd name="adj" fmla="val 56363"/>
              </a:avLst>
            </a:prstGeom>
            <a:solidFill>
              <a:schemeClr val="tx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0F87CE91-32EC-CAC6-2E0F-05C016254F0F}"/>
                </a:ext>
              </a:extLst>
            </p:cNvPr>
            <p:cNvSpPr/>
            <p:nvPr/>
          </p:nvSpPr>
          <p:spPr>
            <a:xfrm rot="16200000" flipV="1">
              <a:off x="63147" y="1683781"/>
              <a:ext cx="2267991" cy="1507169"/>
            </a:xfrm>
            <a:prstGeom prst="parallelogram">
              <a:avLst>
                <a:gd name="adj" fmla="val 57036"/>
              </a:avLst>
            </a:prstGeom>
            <a:solidFill>
              <a:srgbClr val="92D05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AC7E2D-3849-A512-3D1A-6504E95C5715}"/>
                </a:ext>
              </a:extLst>
            </p:cNvPr>
            <p:cNvGrpSpPr/>
            <p:nvPr/>
          </p:nvGrpSpPr>
          <p:grpSpPr>
            <a:xfrm>
              <a:off x="315408" y="1388574"/>
              <a:ext cx="2979599" cy="2916704"/>
              <a:chOff x="315408" y="1388574"/>
              <a:chExt cx="2979599" cy="2916704"/>
            </a:xfrm>
          </p:grpSpPr>
          <p:sp>
            <p:nvSpPr>
              <p:cNvPr id="34" name="Parallelogram 33">
                <a:extLst>
                  <a:ext uri="{FF2B5EF4-FFF2-40B4-BE49-F238E27FC236}">
                    <a16:creationId xmlns:a16="http://schemas.microsoft.com/office/drawing/2014/main" id="{7E8FCDCB-E77F-AF6B-B403-AFA0E24C21A3}"/>
                  </a:ext>
                </a:extLst>
              </p:cNvPr>
              <p:cNvSpPr/>
              <p:nvPr/>
            </p:nvSpPr>
            <p:spPr>
              <a:xfrm rot="9000000" flipV="1">
                <a:off x="568035" y="2893440"/>
                <a:ext cx="2397677" cy="1140356"/>
              </a:xfrm>
              <a:prstGeom prst="parallelogram">
                <a:avLst>
                  <a:gd name="adj" fmla="val 58457"/>
                </a:avLst>
              </a:prstGeom>
              <a:solidFill>
                <a:srgbClr val="92D05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54027F5-DD62-A23E-B9E0-C505D9BAFCB6}"/>
                  </a:ext>
                </a:extLst>
              </p:cNvPr>
              <p:cNvSpPr txBox="1"/>
              <p:nvPr/>
            </p:nvSpPr>
            <p:spPr>
              <a:xfrm>
                <a:off x="2591140" y="3883891"/>
                <a:ext cx="292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T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024CDD4-394C-A224-1D5F-E0446755AA4E}"/>
                  </a:ext>
                </a:extLst>
              </p:cNvPr>
              <p:cNvCxnSpPr/>
              <p:nvPr/>
            </p:nvCxnSpPr>
            <p:spPr>
              <a:xfrm flipH="1" flipV="1">
                <a:off x="2205833" y="3540232"/>
                <a:ext cx="412121" cy="3635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767E45C-FBCA-EB82-6A34-F081F41EAB70}"/>
                  </a:ext>
                </a:extLst>
              </p:cNvPr>
              <p:cNvSpPr txBox="1"/>
              <p:nvPr/>
            </p:nvSpPr>
            <p:spPr>
              <a:xfrm>
                <a:off x="326101" y="3935946"/>
                <a:ext cx="5202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S1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A5DE176-8CD8-1FEC-6C98-CAB8EC1175D4}"/>
                  </a:ext>
                </a:extLst>
              </p:cNvPr>
              <p:cNvCxnSpPr/>
              <p:nvPr/>
            </p:nvCxnSpPr>
            <p:spPr>
              <a:xfrm>
                <a:off x="1618230" y="1715098"/>
                <a:ext cx="0" cy="5465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86F2D0E-4348-2A39-0A59-CB22007BF274}"/>
                  </a:ext>
                </a:extLst>
              </p:cNvPr>
              <p:cNvSpPr txBox="1"/>
              <p:nvPr/>
            </p:nvSpPr>
            <p:spPr>
              <a:xfrm>
                <a:off x="1522717" y="1388574"/>
                <a:ext cx="292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P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C0C1ABF-9471-F33E-9D94-40447375B37A}"/>
                  </a:ext>
                </a:extLst>
              </p:cNvPr>
              <p:cNvSpPr txBox="1"/>
              <p:nvPr/>
            </p:nvSpPr>
            <p:spPr>
              <a:xfrm>
                <a:off x="2251601" y="2008966"/>
                <a:ext cx="953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Base</a:t>
                </a:r>
              </a:p>
            </p:txBody>
          </p:sp>
          <p:sp>
            <p:nvSpPr>
              <p:cNvPr id="41" name="Arrow: Curved Right 60">
                <a:extLst>
                  <a:ext uri="{FF2B5EF4-FFF2-40B4-BE49-F238E27FC236}">
                    <a16:creationId xmlns:a16="http://schemas.microsoft.com/office/drawing/2014/main" id="{5954BDB0-8E2B-9B77-5980-921A0CA8469F}"/>
                  </a:ext>
                </a:extLst>
              </p:cNvPr>
              <p:cNvSpPr/>
              <p:nvPr/>
            </p:nvSpPr>
            <p:spPr>
              <a:xfrm rot="16970471">
                <a:off x="1867471" y="1786741"/>
                <a:ext cx="155357" cy="345075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Arrow: Curved Right 61">
                <a:extLst>
                  <a:ext uri="{FF2B5EF4-FFF2-40B4-BE49-F238E27FC236}">
                    <a16:creationId xmlns:a16="http://schemas.microsoft.com/office/drawing/2014/main" id="{B9E731AC-0A7B-A25D-5ACB-3C09B5B97C9B}"/>
                  </a:ext>
                </a:extLst>
              </p:cNvPr>
              <p:cNvSpPr/>
              <p:nvPr/>
            </p:nvSpPr>
            <p:spPr>
              <a:xfrm rot="12042724" flipV="1">
                <a:off x="1327710" y="2912592"/>
                <a:ext cx="194679" cy="347097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531714C-55F5-A9FE-03F4-928335AD5C1D}"/>
                  </a:ext>
                </a:extLst>
              </p:cNvPr>
              <p:cNvSpPr txBox="1"/>
              <p:nvPr/>
            </p:nvSpPr>
            <p:spPr>
              <a:xfrm>
                <a:off x="1682115" y="3059430"/>
                <a:ext cx="113919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Horizontal partition 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985E9E-DB36-590C-DF08-1317E1447E77}"/>
                  </a:ext>
                </a:extLst>
              </p:cNvPr>
              <p:cNvSpPr txBox="1"/>
              <p:nvPr/>
            </p:nvSpPr>
            <p:spPr>
              <a:xfrm>
                <a:off x="1157959" y="2236859"/>
                <a:ext cx="9532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Vertical partition </a:t>
                </a:r>
              </a:p>
            </p:txBody>
          </p:sp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88140ECB-0FE2-917C-25FF-F8743F617CCB}"/>
                  </a:ext>
                </a:extLst>
              </p:cNvPr>
              <p:cNvSpPr/>
              <p:nvPr/>
            </p:nvSpPr>
            <p:spPr>
              <a:xfrm rot="16200000">
                <a:off x="-16092" y="2617228"/>
                <a:ext cx="2043968" cy="1139458"/>
              </a:xfrm>
              <a:prstGeom prst="parallelogram">
                <a:avLst>
                  <a:gd name="adj" fmla="val 56363"/>
                </a:avLst>
              </a:prstGeom>
              <a:solidFill>
                <a:srgbClr val="92D05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1E3ECF6-C50E-3F93-CB11-9585A9DEA2DC}"/>
                  </a:ext>
                </a:extLst>
              </p:cNvPr>
              <p:cNvSpPr txBox="1"/>
              <p:nvPr/>
            </p:nvSpPr>
            <p:spPr>
              <a:xfrm>
                <a:off x="1024541" y="3482022"/>
                <a:ext cx="953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Lid</a:t>
                </a: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F7CBD8F-433F-DE99-21B3-169768198B55}"/>
                  </a:ext>
                </a:extLst>
              </p:cNvPr>
              <p:cNvCxnSpPr/>
              <p:nvPr/>
            </p:nvCxnSpPr>
            <p:spPr>
              <a:xfrm flipV="1">
                <a:off x="432351" y="3571361"/>
                <a:ext cx="520227" cy="38045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934B7591-749B-DC79-5C50-FBBB37E01494}"/>
                  </a:ext>
                </a:extLst>
              </p:cNvPr>
              <p:cNvCxnSpPr/>
              <p:nvPr/>
            </p:nvCxnSpPr>
            <p:spPr>
              <a:xfrm flipH="1">
                <a:off x="2432594" y="2276662"/>
                <a:ext cx="407040" cy="34207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11B148C-6BBF-458F-A907-822B6A13C0CA}"/>
                  </a:ext>
                </a:extLst>
              </p:cNvPr>
              <p:cNvSpPr txBox="1"/>
              <p:nvPr/>
            </p:nvSpPr>
            <p:spPr>
              <a:xfrm>
                <a:off x="2849431" y="2034655"/>
                <a:ext cx="445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S2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Arrow: Curved Right 100">
                <a:extLst>
                  <a:ext uri="{FF2B5EF4-FFF2-40B4-BE49-F238E27FC236}">
                    <a16:creationId xmlns:a16="http://schemas.microsoft.com/office/drawing/2014/main" id="{D786AACC-2DDD-D4B8-315A-29B6CED9953D}"/>
                  </a:ext>
                </a:extLst>
              </p:cNvPr>
              <p:cNvSpPr/>
              <p:nvPr/>
            </p:nvSpPr>
            <p:spPr>
              <a:xfrm rot="13634337" flipV="1">
                <a:off x="384214" y="2783169"/>
                <a:ext cx="155357" cy="292970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4533939-60B8-6B3E-D708-F938F3E44222}"/>
              </a:ext>
            </a:extLst>
          </p:cNvPr>
          <p:cNvGrpSpPr/>
          <p:nvPr/>
        </p:nvGrpSpPr>
        <p:grpSpPr>
          <a:xfrm>
            <a:off x="79401" y="2492231"/>
            <a:ext cx="2213324" cy="2372530"/>
            <a:chOff x="98376" y="1124589"/>
            <a:chExt cx="3263662" cy="3498421"/>
          </a:xfrm>
        </p:grpSpPr>
        <p:sp>
          <p:nvSpPr>
            <p:cNvPr id="90" name="Parallelogram 89">
              <a:extLst>
                <a:ext uri="{FF2B5EF4-FFF2-40B4-BE49-F238E27FC236}">
                  <a16:creationId xmlns:a16="http://schemas.microsoft.com/office/drawing/2014/main" id="{6FCFC4FB-E3C9-4933-212C-2E87EF81AE68}"/>
                </a:ext>
              </a:extLst>
            </p:cNvPr>
            <p:cNvSpPr/>
            <p:nvPr/>
          </p:nvSpPr>
          <p:spPr>
            <a:xfrm rot="9000000" flipV="1">
              <a:off x="369481" y="1486622"/>
              <a:ext cx="2573047" cy="1223764"/>
            </a:xfrm>
            <a:prstGeom prst="parallelogram">
              <a:avLst>
                <a:gd name="adj" fmla="val 58457"/>
              </a:avLst>
            </a:prstGeom>
            <a:solidFill>
              <a:srgbClr val="00B0F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DE6AD9D-0256-5D33-A125-63E0D8F787AF}"/>
                </a:ext>
              </a:extLst>
            </p:cNvPr>
            <p:cNvGrpSpPr/>
            <p:nvPr/>
          </p:nvGrpSpPr>
          <p:grpSpPr>
            <a:xfrm>
              <a:off x="98376" y="1124589"/>
              <a:ext cx="3263662" cy="3498421"/>
              <a:chOff x="98375" y="1099208"/>
              <a:chExt cx="3263662" cy="3498421"/>
            </a:xfrm>
          </p:grpSpPr>
          <p:sp>
            <p:nvSpPr>
              <p:cNvPr id="92" name="Parallelogram 91">
                <a:extLst>
                  <a:ext uri="{FF2B5EF4-FFF2-40B4-BE49-F238E27FC236}">
                    <a16:creationId xmlns:a16="http://schemas.microsoft.com/office/drawing/2014/main" id="{DED46A52-1417-6D8C-B824-33AF351EC966}"/>
                  </a:ext>
                </a:extLst>
              </p:cNvPr>
              <p:cNvSpPr/>
              <p:nvPr/>
            </p:nvSpPr>
            <p:spPr>
              <a:xfrm rot="16200000" flipV="1">
                <a:off x="1044313" y="2363057"/>
                <a:ext cx="2433876" cy="1617406"/>
              </a:xfrm>
              <a:prstGeom prst="parallelogram">
                <a:avLst>
                  <a:gd name="adj" fmla="val 57036"/>
                </a:avLst>
              </a:prstGeom>
              <a:solidFill>
                <a:srgbClr val="00B0F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3" name="Parallelogram 92">
                <a:extLst>
                  <a:ext uri="{FF2B5EF4-FFF2-40B4-BE49-F238E27FC236}">
                    <a16:creationId xmlns:a16="http://schemas.microsoft.com/office/drawing/2014/main" id="{2B3B6692-319D-AD4D-2D58-DAA988B1E3BC}"/>
                  </a:ext>
                </a:extLst>
              </p:cNvPr>
              <p:cNvSpPr/>
              <p:nvPr/>
            </p:nvSpPr>
            <p:spPr>
              <a:xfrm rot="16200000">
                <a:off x="-250537" y="2676409"/>
                <a:ext cx="2193467" cy="1222800"/>
              </a:xfrm>
              <a:prstGeom prst="parallelogram">
                <a:avLst>
                  <a:gd name="adj" fmla="val 56363"/>
                </a:avLst>
              </a:prstGeom>
              <a:solidFill>
                <a:srgbClr val="00B0F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4" name="Parallelogram 93">
                <a:extLst>
                  <a:ext uri="{FF2B5EF4-FFF2-40B4-BE49-F238E27FC236}">
                    <a16:creationId xmlns:a16="http://schemas.microsoft.com/office/drawing/2014/main" id="{25A6343C-7522-787A-091B-BAC6BD21A959}"/>
                  </a:ext>
                </a:extLst>
              </p:cNvPr>
              <p:cNvSpPr/>
              <p:nvPr/>
            </p:nvSpPr>
            <p:spPr>
              <a:xfrm rot="16200000">
                <a:off x="1367974" y="1758621"/>
                <a:ext cx="2193467" cy="1222800"/>
              </a:xfrm>
              <a:prstGeom prst="parallelogram">
                <a:avLst>
                  <a:gd name="adj" fmla="val 56363"/>
                </a:avLst>
              </a:prstGeom>
              <a:solidFill>
                <a:schemeClr val="tx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DAF35D8-B290-88CE-315E-A42927E2A818}"/>
                  </a:ext>
                </a:extLst>
              </p:cNvPr>
              <p:cNvSpPr txBox="1"/>
              <p:nvPr/>
            </p:nvSpPr>
            <p:spPr>
              <a:xfrm>
                <a:off x="2540560" y="4042552"/>
                <a:ext cx="3143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T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4712578A-24FD-C42C-25A2-FF521688B80B}"/>
                  </a:ext>
                </a:extLst>
              </p:cNvPr>
              <p:cNvCxnSpPr/>
              <p:nvPr/>
            </p:nvCxnSpPr>
            <p:spPr>
              <a:xfrm flipH="1" flipV="1">
                <a:off x="2127070" y="3673757"/>
                <a:ext cx="442264" cy="39013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13BF5E4-A8AC-125F-989C-D70DC3C0C3BC}"/>
                  </a:ext>
                </a:extLst>
              </p:cNvPr>
              <p:cNvSpPr txBox="1"/>
              <p:nvPr/>
            </p:nvSpPr>
            <p:spPr>
              <a:xfrm>
                <a:off x="109851" y="4098413"/>
                <a:ext cx="663591" cy="49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 dirty="0">
                    <a:solidFill>
                      <a:srgbClr val="FF0000"/>
                    </a:solidFill>
                  </a:rPr>
                  <a:t>S1</a:t>
                </a:r>
                <a:endParaRPr lang="en-GB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9A5183AE-0CA5-AB3B-BFF4-B5D5F9A5BE0A}"/>
                  </a:ext>
                </a:extLst>
              </p:cNvPr>
              <p:cNvCxnSpPr/>
              <p:nvPr/>
            </p:nvCxnSpPr>
            <p:spPr>
              <a:xfrm>
                <a:off x="1453300" y="1471539"/>
                <a:ext cx="0" cy="586521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3D0926C-67D9-604F-8090-1C31162D1EE3}"/>
                  </a:ext>
                </a:extLst>
              </p:cNvPr>
              <p:cNvSpPr txBox="1"/>
              <p:nvPr/>
            </p:nvSpPr>
            <p:spPr>
              <a:xfrm>
                <a:off x="1340510" y="1099208"/>
                <a:ext cx="3143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P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EE1006F-0098-C6C0-FB50-C67A80ABD7FD}"/>
                  </a:ext>
                </a:extLst>
              </p:cNvPr>
              <p:cNvSpPr txBox="1"/>
              <p:nvPr/>
            </p:nvSpPr>
            <p:spPr>
              <a:xfrm>
                <a:off x="2176185" y="2030492"/>
                <a:ext cx="10229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Base</a:t>
                </a:r>
              </a:p>
            </p:txBody>
          </p:sp>
          <p:sp>
            <p:nvSpPr>
              <p:cNvPr id="101" name="Arrow: Curved Right 60">
                <a:extLst>
                  <a:ext uri="{FF2B5EF4-FFF2-40B4-BE49-F238E27FC236}">
                    <a16:creationId xmlns:a16="http://schemas.microsoft.com/office/drawing/2014/main" id="{689112FB-96A9-B744-5E57-5E689791F071}"/>
                  </a:ext>
                </a:extLst>
              </p:cNvPr>
              <p:cNvSpPr/>
              <p:nvPr/>
            </p:nvSpPr>
            <p:spPr>
              <a:xfrm rot="16970471">
                <a:off x="1763959" y="1792013"/>
                <a:ext cx="166720" cy="370315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Arrow: Curved Right 61">
                <a:extLst>
                  <a:ext uri="{FF2B5EF4-FFF2-40B4-BE49-F238E27FC236}">
                    <a16:creationId xmlns:a16="http://schemas.microsoft.com/office/drawing/2014/main" id="{16C1BB66-3BE5-659C-9224-9498F9806D51}"/>
                  </a:ext>
                </a:extLst>
              </p:cNvPr>
              <p:cNvSpPr/>
              <p:nvPr/>
            </p:nvSpPr>
            <p:spPr>
              <a:xfrm rot="12042724" flipV="1">
                <a:off x="1184719" y="3000210"/>
                <a:ext cx="208918" cy="372484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882083E-B5C5-ECBF-1A41-42621621F0B7}"/>
                  </a:ext>
                </a:extLst>
              </p:cNvPr>
              <p:cNvSpPr txBox="1"/>
              <p:nvPr/>
            </p:nvSpPr>
            <p:spPr>
              <a:xfrm>
                <a:off x="899747" y="2051767"/>
                <a:ext cx="102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Horizontal partition 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03AD0BD-4601-5BFB-575C-5BF19BD17B27}"/>
                  </a:ext>
                </a:extLst>
              </p:cNvPr>
              <p:cNvSpPr txBox="1"/>
              <p:nvPr/>
            </p:nvSpPr>
            <p:spPr>
              <a:xfrm>
                <a:off x="1664822" y="3034297"/>
                <a:ext cx="102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Vertical partition 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3C26E72-B7B5-25F3-C954-52007940DF54}"/>
                  </a:ext>
                </a:extLst>
              </p:cNvPr>
              <p:cNvSpPr txBox="1"/>
              <p:nvPr/>
            </p:nvSpPr>
            <p:spPr>
              <a:xfrm>
                <a:off x="859376" y="3611289"/>
                <a:ext cx="10229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Lid</a:t>
                </a:r>
              </a:p>
            </p:txBody>
          </p: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AA5B0A35-AD01-6A50-57F8-46624D0E1DDA}"/>
                  </a:ext>
                </a:extLst>
              </p:cNvPr>
              <p:cNvCxnSpPr/>
              <p:nvPr/>
            </p:nvCxnSpPr>
            <p:spPr>
              <a:xfrm flipV="1">
                <a:off x="223872" y="3707163"/>
                <a:ext cx="558277" cy="40827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3DFC2E09-1A50-2EEB-A3DD-DDF6EF119B5D}"/>
                  </a:ext>
                </a:extLst>
              </p:cNvPr>
              <p:cNvCxnSpPr/>
              <p:nvPr/>
            </p:nvCxnSpPr>
            <p:spPr>
              <a:xfrm flipH="1">
                <a:off x="2370417" y="2317767"/>
                <a:ext cx="436811" cy="36709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7C48D5CE-5D05-FBA0-EB3B-4FBF11279C41}"/>
                  </a:ext>
                </a:extLst>
              </p:cNvPr>
              <p:cNvSpPr txBox="1"/>
              <p:nvPr/>
            </p:nvSpPr>
            <p:spPr>
              <a:xfrm>
                <a:off x="2699522" y="2372027"/>
                <a:ext cx="662515" cy="49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 dirty="0">
                    <a:solidFill>
                      <a:srgbClr val="FF0000"/>
                    </a:solidFill>
                  </a:rPr>
                  <a:t>S2</a:t>
                </a:r>
                <a:endParaRPr lang="en-GB" sz="1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9" name="Arrow: Curved Right 100">
                <a:extLst>
                  <a:ext uri="{FF2B5EF4-FFF2-40B4-BE49-F238E27FC236}">
                    <a16:creationId xmlns:a16="http://schemas.microsoft.com/office/drawing/2014/main" id="{BE627A71-AAF9-5939-8D0E-CA5C7ABB2AEA}"/>
                  </a:ext>
                </a:extLst>
              </p:cNvPr>
              <p:cNvSpPr/>
              <p:nvPr/>
            </p:nvSpPr>
            <p:spPr>
              <a:xfrm rot="13634337" flipV="1">
                <a:off x="172215" y="2861320"/>
                <a:ext cx="166720" cy="314399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395" y="85090"/>
            <a:ext cx="665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/>
              <a:t>Quadrant System and Orthographic Projection</a:t>
            </a:r>
            <a:endParaRPr lang="en-SG" dirty="0"/>
          </a:p>
        </p:txBody>
      </p:sp>
      <p:sp>
        <p:nvSpPr>
          <p:cNvPr id="6" name="TextBox 5"/>
          <p:cNvSpPr txBox="1"/>
          <p:nvPr/>
        </p:nvSpPr>
        <p:spPr>
          <a:xfrm>
            <a:off x="206341" y="617664"/>
            <a:ext cx="280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First Angle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1878" y="617664"/>
            <a:ext cx="280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Third Angle Projection</a:t>
            </a:r>
          </a:p>
        </p:txBody>
      </p:sp>
      <p:sp>
        <p:nvSpPr>
          <p:cNvPr id="8" name="Parallelogram 7"/>
          <p:cNvSpPr/>
          <p:nvPr/>
        </p:nvSpPr>
        <p:spPr>
          <a:xfrm rot="16200000" flipV="1">
            <a:off x="250546" y="1605818"/>
            <a:ext cx="1866783" cy="955648"/>
          </a:xfrm>
          <a:prstGeom prst="parallelogram">
            <a:avLst>
              <a:gd name="adj" fmla="val 57036"/>
            </a:avLst>
          </a:prstGeom>
          <a:solidFill>
            <a:srgbClr val="4EA72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/>
          <p:cNvSpPr/>
          <p:nvPr/>
        </p:nvSpPr>
        <p:spPr>
          <a:xfrm rot="16200000" flipV="1">
            <a:off x="700733" y="1835576"/>
            <a:ext cx="969152" cy="496131"/>
          </a:xfrm>
          <a:prstGeom prst="parallelogram">
            <a:avLst>
              <a:gd name="adj" fmla="val 57036"/>
            </a:avLst>
          </a:prstGeom>
          <a:solidFill>
            <a:srgbClr val="AED5A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/>
          <p:cNvSpPr/>
          <p:nvPr/>
        </p:nvSpPr>
        <p:spPr>
          <a:xfrm rot="16200000" flipV="1">
            <a:off x="943021" y="2077864"/>
            <a:ext cx="484576" cy="496131"/>
          </a:xfrm>
          <a:prstGeom prst="parallelogram">
            <a:avLst>
              <a:gd name="adj" fmla="val 57036"/>
            </a:avLst>
          </a:prstGeom>
          <a:solidFill>
            <a:srgbClr val="AED5A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3D Model 10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791" y="2762100"/>
            <a:ext cx="545703" cy="16247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402111" y="2083641"/>
            <a:ext cx="1237429" cy="135691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4439001" y="1055413"/>
            <a:ext cx="1237429" cy="1356919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5377883" y="1241267"/>
            <a:ext cx="955648" cy="1866783"/>
            <a:chOff x="4750824" y="986995"/>
            <a:chExt cx="955648" cy="1866783"/>
          </a:xfrm>
        </p:grpSpPr>
        <p:sp>
          <p:nvSpPr>
            <p:cNvPr id="12" name="Parallelogram 11"/>
            <p:cNvSpPr/>
            <p:nvPr/>
          </p:nvSpPr>
          <p:spPr>
            <a:xfrm rot="16200000" flipV="1">
              <a:off x="4295256" y="1442563"/>
              <a:ext cx="1866783" cy="955648"/>
            </a:xfrm>
            <a:prstGeom prst="parallelogram">
              <a:avLst>
                <a:gd name="adj" fmla="val 57036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/>
            <p:cNvSpPr/>
            <p:nvPr/>
          </p:nvSpPr>
          <p:spPr>
            <a:xfrm rot="16200000" flipV="1">
              <a:off x="4745443" y="1672321"/>
              <a:ext cx="969152" cy="496131"/>
            </a:xfrm>
            <a:prstGeom prst="parallelogram">
              <a:avLst>
                <a:gd name="adj" fmla="val 57036"/>
              </a:avLst>
            </a:prstGeom>
            <a:solidFill>
              <a:srgbClr val="AED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/>
            <p:cNvSpPr/>
            <p:nvPr/>
          </p:nvSpPr>
          <p:spPr>
            <a:xfrm rot="16200000" flipV="1">
              <a:off x="4987731" y="1914609"/>
              <a:ext cx="484576" cy="496131"/>
            </a:xfrm>
            <a:prstGeom prst="parallelogram">
              <a:avLst>
                <a:gd name="adj" fmla="val 57036"/>
              </a:avLst>
            </a:prstGeom>
            <a:solidFill>
              <a:srgbClr val="AED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 flipH="1" flipV="1">
            <a:off x="2693581" y="2621532"/>
            <a:ext cx="599539" cy="363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3D Model 19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186" y="2762100"/>
            <a:ext cx="545703" cy="1624707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H="1" flipV="1">
            <a:off x="6426976" y="2621532"/>
            <a:ext cx="599539" cy="363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4247" y="4434940"/>
            <a:ext cx="42547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Projection is </a:t>
            </a:r>
            <a:r>
              <a:rPr lang="en-US" b="1" dirty="0">
                <a:solidFill>
                  <a:srgbClr val="FF0000"/>
                </a:solidFill>
              </a:rPr>
              <a:t>behind</a:t>
            </a:r>
            <a:r>
              <a:rPr lang="en-US" dirty="0"/>
              <a:t> the object.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9001" y="4409699"/>
            <a:ext cx="42547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Projection is </a:t>
            </a:r>
            <a:r>
              <a:rPr lang="en-US" b="1" dirty="0">
                <a:solidFill>
                  <a:srgbClr val="FF0000"/>
                </a:solidFill>
              </a:rPr>
              <a:t>in front of</a:t>
            </a:r>
            <a:r>
              <a:rPr lang="en-US" dirty="0"/>
              <a:t> the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30719" y="95070"/>
            <a:ext cx="42244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  <a:p>
            <a:endParaRPr lang="en-SG" sz="1400" u="sng" dirty="0"/>
          </a:p>
          <a:p>
            <a:r>
              <a:rPr lang="en-SG" sz="1400" dirty="0"/>
              <a:t>T = elevation / front</a:t>
            </a:r>
          </a:p>
          <a:p>
            <a:r>
              <a:rPr lang="en-SG" sz="1400" dirty="0"/>
              <a:t>S = end / side</a:t>
            </a:r>
          </a:p>
          <a:p>
            <a:r>
              <a:rPr lang="en-SG" sz="1400" dirty="0"/>
              <a:t>P = plan / top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3487910" y="2683211"/>
            <a:ext cx="45994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6706211" y="1122840"/>
            <a:ext cx="0" cy="2915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83655" y="210293"/>
            <a:ext cx="51449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Unfold such that elevation view is adjacent to  / </a:t>
            </a:r>
            <a:r>
              <a:rPr lang="en-SG" sz="1400" dirty="0" err="1"/>
              <a:t>center</a:t>
            </a:r>
            <a:r>
              <a:rPr lang="en-SG" sz="1400" dirty="0"/>
              <a:t> of other views.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First-angle projections are </a:t>
            </a:r>
            <a:r>
              <a:rPr lang="en-SG" sz="1400" dirty="0">
                <a:highlight>
                  <a:srgbClr val="FFFF00"/>
                </a:highlight>
              </a:rPr>
              <a:t>behind</a:t>
            </a:r>
            <a:r>
              <a:rPr lang="en-SG" sz="1400" dirty="0"/>
              <a:t> the object.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3719" y="2403149"/>
            <a:ext cx="162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Vertical partition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2521" y="1759895"/>
            <a:ext cx="1178169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Elevation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0587" y="3267520"/>
            <a:ext cx="61073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Plan 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4834168" y="1199208"/>
            <a:ext cx="0" cy="28389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831516" y="1759895"/>
            <a:ext cx="670455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81646" y="1759895"/>
            <a:ext cx="67927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1103" y="2386971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0900" y="242759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Lid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6165" y="2760346"/>
            <a:ext cx="1628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Horizontal partition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3655" y="4196113"/>
            <a:ext cx="514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Elevation is always on the vertical partition of the box.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Plan is always on the horizontal partition of the box.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C9ABA2-4D7C-965D-E722-8248DE777D55}"/>
              </a:ext>
            </a:extLst>
          </p:cNvPr>
          <p:cNvGrpSpPr/>
          <p:nvPr/>
        </p:nvGrpSpPr>
        <p:grpSpPr>
          <a:xfrm>
            <a:off x="315408" y="1303370"/>
            <a:ext cx="2979599" cy="3001908"/>
            <a:chOff x="315408" y="1303370"/>
            <a:chExt cx="2979599" cy="3001908"/>
          </a:xfrm>
        </p:grpSpPr>
        <p:sp>
          <p:nvSpPr>
            <p:cNvPr id="2" name="Parallelogram 1"/>
            <p:cNvSpPr/>
            <p:nvPr/>
          </p:nvSpPr>
          <p:spPr>
            <a:xfrm rot="16200000">
              <a:off x="1498475" y="1755625"/>
              <a:ext cx="2043968" cy="1139458"/>
            </a:xfrm>
            <a:prstGeom prst="parallelogram">
              <a:avLst>
                <a:gd name="adj" fmla="val 56363"/>
              </a:avLst>
            </a:prstGeom>
            <a:solidFill>
              <a:schemeClr val="tx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5" name="Parallelogram 14"/>
            <p:cNvSpPr/>
            <p:nvPr/>
          </p:nvSpPr>
          <p:spPr>
            <a:xfrm rot="16200000" flipV="1">
              <a:off x="63147" y="1683781"/>
              <a:ext cx="2267991" cy="1507169"/>
            </a:xfrm>
            <a:prstGeom prst="parallelogram">
              <a:avLst>
                <a:gd name="adj" fmla="val 57036"/>
              </a:avLst>
            </a:prstGeom>
            <a:solidFill>
              <a:srgbClr val="92D05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5A94704-D847-2D3E-84EC-400B36680F41}"/>
                </a:ext>
              </a:extLst>
            </p:cNvPr>
            <p:cNvGrpSpPr/>
            <p:nvPr/>
          </p:nvGrpSpPr>
          <p:grpSpPr>
            <a:xfrm>
              <a:off x="315408" y="1388574"/>
              <a:ext cx="2979599" cy="2916704"/>
              <a:chOff x="315408" y="1388574"/>
              <a:chExt cx="2979599" cy="2916704"/>
            </a:xfrm>
          </p:grpSpPr>
          <p:sp>
            <p:nvSpPr>
              <p:cNvPr id="5" name="Parallelogram 4"/>
              <p:cNvSpPr/>
              <p:nvPr/>
            </p:nvSpPr>
            <p:spPr>
              <a:xfrm rot="9000000" flipV="1">
                <a:off x="568035" y="2893440"/>
                <a:ext cx="2397677" cy="1140356"/>
              </a:xfrm>
              <a:prstGeom prst="parallelogram">
                <a:avLst>
                  <a:gd name="adj" fmla="val 58457"/>
                </a:avLst>
              </a:prstGeom>
              <a:solidFill>
                <a:srgbClr val="92D05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591140" y="3883891"/>
                <a:ext cx="292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T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 flipH="1" flipV="1">
                <a:off x="2205833" y="3540232"/>
                <a:ext cx="412121" cy="3635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326101" y="3935946"/>
                <a:ext cx="5202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S1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1618230" y="1715098"/>
                <a:ext cx="0" cy="5465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1522717" y="1388574"/>
                <a:ext cx="292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P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251601" y="2008966"/>
                <a:ext cx="953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Base</a:t>
                </a:r>
              </a:p>
            </p:txBody>
          </p:sp>
          <p:sp>
            <p:nvSpPr>
              <p:cNvPr id="33" name="Arrow: Curved Right 60"/>
              <p:cNvSpPr/>
              <p:nvPr/>
            </p:nvSpPr>
            <p:spPr>
              <a:xfrm rot="16970471">
                <a:off x="1867471" y="1786741"/>
                <a:ext cx="155357" cy="345075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row: Curved Right 61"/>
              <p:cNvSpPr/>
              <p:nvPr/>
            </p:nvSpPr>
            <p:spPr>
              <a:xfrm rot="12042724" flipV="1">
                <a:off x="1327710" y="2912592"/>
                <a:ext cx="194679" cy="347097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682115" y="3059430"/>
                <a:ext cx="113919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Horizontal partition 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157959" y="2236859"/>
                <a:ext cx="9532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Vertical partition </a:t>
                </a:r>
              </a:p>
            </p:txBody>
          </p:sp>
          <p:sp>
            <p:nvSpPr>
              <p:cNvPr id="40" name="Parallelogram 39"/>
              <p:cNvSpPr/>
              <p:nvPr/>
            </p:nvSpPr>
            <p:spPr>
              <a:xfrm rot="16200000">
                <a:off x="-16092" y="2617228"/>
                <a:ext cx="2043968" cy="1139458"/>
              </a:xfrm>
              <a:prstGeom prst="parallelogram">
                <a:avLst>
                  <a:gd name="adj" fmla="val 56363"/>
                </a:avLst>
              </a:prstGeom>
              <a:solidFill>
                <a:srgbClr val="92D05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1024541" y="3482022"/>
                <a:ext cx="953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/>
                  <a:t>Lid</a:t>
                </a:r>
              </a:p>
            </p:txBody>
          </p:sp>
          <p:cxnSp>
            <p:nvCxnSpPr>
              <p:cNvPr id="42" name="Straight Arrow Connector 41"/>
              <p:cNvCxnSpPr/>
              <p:nvPr/>
            </p:nvCxnSpPr>
            <p:spPr>
              <a:xfrm flipV="1">
                <a:off x="432351" y="3571361"/>
                <a:ext cx="520227" cy="38045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 flipH="1">
                <a:off x="2432594" y="2276662"/>
                <a:ext cx="407040" cy="34207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2849431" y="2034655"/>
                <a:ext cx="445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b="1">
                    <a:solidFill>
                      <a:srgbClr val="FF0000"/>
                    </a:solidFill>
                  </a:rPr>
                  <a:t>S2</a:t>
                </a:r>
                <a:endParaRPr lang="en-GB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Arrow: Curved Right 100"/>
              <p:cNvSpPr/>
              <p:nvPr/>
            </p:nvSpPr>
            <p:spPr>
              <a:xfrm rot="13634337" flipV="1">
                <a:off x="384214" y="2783169"/>
                <a:ext cx="155357" cy="292970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547918" y="462779"/>
            <a:ext cx="1504077" cy="1649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397" y="2047720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47918" y="184663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8" name="Parallelogram 7"/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Parallelogram 8"/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Parallelogram 9"/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61088" y="2709561"/>
            <a:ext cx="1504077" cy="1649315"/>
          </a:xfrm>
          <a:prstGeom prst="rect">
            <a:avLst/>
          </a:prstGeom>
        </p:spPr>
      </p:pic>
      <p:sp>
        <p:nvSpPr>
          <p:cNvPr id="12" name="Parallelogram 11"/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661088" y="3908540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18743" y="36502"/>
            <a:ext cx="6614727" cy="893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SG" sz="1400" u="sng" dirty="0"/>
              <a:t>Comment: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SG" sz="1400" dirty="0"/>
              <a:t>Notice that P may not be given, because plan view is always from above.</a:t>
            </a:r>
            <a:endParaRPr lang="en-GB" sz="140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132866" y="1706322"/>
            <a:ext cx="1048377" cy="989875"/>
            <a:chOff x="9637776" y="1965960"/>
            <a:chExt cx="1469811" cy="1387792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rot="5400000">
            <a:off x="5379380" y="3647157"/>
            <a:ext cx="1007618" cy="941377"/>
            <a:chOff x="9690394" y="4430333"/>
            <a:chExt cx="1412668" cy="1319799"/>
          </a:xfrm>
        </p:grpSpPr>
        <p:sp>
          <p:nvSpPr>
            <p:cNvPr id="31" name="Rectangle 30"/>
            <p:cNvSpPr/>
            <p:nvPr/>
          </p:nvSpPr>
          <p:spPr>
            <a:xfrm>
              <a:off x="9690394" y="4430333"/>
              <a:ext cx="1412665" cy="1319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638652" y="4430337"/>
              <a:ext cx="464410" cy="13197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411484" y="1676315"/>
            <a:ext cx="942396" cy="975606"/>
            <a:chOff x="6943810" y="1965960"/>
            <a:chExt cx="1321228" cy="1367788"/>
          </a:xfrm>
        </p:grpSpPr>
        <p:sp>
          <p:nvSpPr>
            <p:cNvPr id="34" name="Rectangle 33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475350" y="2246215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397" y="2047720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47918" y="184663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8" name="Parallelogram 7"/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Parallelogram 8"/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Parallelogram 9"/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661088" y="3908540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37" name="TextBox 57"/>
          <p:cNvSpPr txBox="1"/>
          <p:nvPr/>
        </p:nvSpPr>
        <p:spPr>
          <a:xfrm>
            <a:off x="2347591" y="425776"/>
            <a:ext cx="2604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object is rotated.</a:t>
            </a:r>
            <a:endParaRPr lang="en-GB" sz="1400" dirty="0"/>
          </a:p>
        </p:txBody>
      </p:sp>
      <p:grpSp>
        <p:nvGrpSpPr>
          <p:cNvPr id="38" name="Group 37"/>
          <p:cNvGrpSpPr/>
          <p:nvPr/>
        </p:nvGrpSpPr>
        <p:grpSpPr>
          <a:xfrm rot="10800000">
            <a:off x="5274568" y="3616561"/>
            <a:ext cx="1060563" cy="975652"/>
            <a:chOff x="9616234" y="4382344"/>
            <a:chExt cx="1486826" cy="1367788"/>
          </a:xfrm>
        </p:grpSpPr>
        <p:sp>
          <p:nvSpPr>
            <p:cNvPr id="40" name="Rectangle 39"/>
            <p:cNvSpPr/>
            <p:nvPr/>
          </p:nvSpPr>
          <p:spPr>
            <a:xfrm>
              <a:off x="9616234" y="4382344"/>
              <a:ext cx="148682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430211" y="4382344"/>
              <a:ext cx="67284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090910" y="1635485"/>
            <a:ext cx="942441" cy="975652"/>
            <a:chOff x="6943810" y="1965960"/>
            <a:chExt cx="1321228" cy="1367788"/>
          </a:xfrm>
        </p:grpSpPr>
        <p:sp>
          <p:nvSpPr>
            <p:cNvPr id="43" name="Rectangle 42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45" name="TextBox 99"/>
          <p:cNvSpPr txBox="1"/>
          <p:nvPr/>
        </p:nvSpPr>
        <p:spPr>
          <a:xfrm>
            <a:off x="3563470" y="1846312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45" y="407180"/>
            <a:ext cx="1505026" cy="164939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288" y="2609062"/>
            <a:ext cx="1505026" cy="1649393"/>
          </a:xfrm>
          <a:prstGeom prst="rect">
            <a:avLst/>
          </a:prstGeom>
        </p:spPr>
      </p:pic>
      <p:sp>
        <p:nvSpPr>
          <p:cNvPr id="48" name="TextBox 4"/>
          <p:cNvSpPr txBox="1"/>
          <p:nvPr/>
        </p:nvSpPr>
        <p:spPr>
          <a:xfrm>
            <a:off x="4952144" y="362816"/>
            <a:ext cx="3779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/>
              <a:t>The layout stays the same because the object is simply rotated.</a:t>
            </a:r>
            <a:endParaRPr lang="en-GB" sz="1400"/>
          </a:p>
        </p:txBody>
      </p:sp>
      <p:grpSp>
        <p:nvGrpSpPr>
          <p:cNvPr id="49" name="Group 48"/>
          <p:cNvGrpSpPr/>
          <p:nvPr/>
        </p:nvGrpSpPr>
        <p:grpSpPr>
          <a:xfrm flipH="1">
            <a:off x="5274569" y="1618811"/>
            <a:ext cx="1060577" cy="989921"/>
            <a:chOff x="9637776" y="1965960"/>
            <a:chExt cx="1469811" cy="1387792"/>
          </a:xfrm>
        </p:grpSpPr>
        <p:cxnSp>
          <p:nvCxnSpPr>
            <p:cNvPr id="50" name="Straight Connector 49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Parallelogram 11"/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TextBox 54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arallelogram 42"/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extBox 1"/>
          <p:cNvSpPr txBox="1"/>
          <p:nvPr/>
        </p:nvSpPr>
        <p:spPr>
          <a:xfrm>
            <a:off x="2389439" y="1019524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2086690" y="969894"/>
            <a:ext cx="312521" cy="2529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Parallelogram 6"/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Parallelogram 7"/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grpSp>
        <p:nvGrpSpPr>
          <p:cNvPr id="21" name="Group 20"/>
          <p:cNvGrpSpPr/>
          <p:nvPr/>
        </p:nvGrpSpPr>
        <p:grpSpPr>
          <a:xfrm rot="10800000">
            <a:off x="5274568" y="3616561"/>
            <a:ext cx="1060563" cy="975652"/>
            <a:chOff x="9616234" y="4382344"/>
            <a:chExt cx="1486826" cy="1367788"/>
          </a:xfrm>
        </p:grpSpPr>
        <p:sp>
          <p:nvSpPr>
            <p:cNvPr id="22" name="Rectangle 21"/>
            <p:cNvSpPr/>
            <p:nvPr/>
          </p:nvSpPr>
          <p:spPr>
            <a:xfrm>
              <a:off x="9616234" y="4382344"/>
              <a:ext cx="148682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430211" y="4382344"/>
              <a:ext cx="67284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533304" y="1635485"/>
            <a:ext cx="942441" cy="975652"/>
            <a:chOff x="6943810" y="1965960"/>
            <a:chExt cx="1321228" cy="1367788"/>
          </a:xfrm>
        </p:grpSpPr>
        <p:sp>
          <p:nvSpPr>
            <p:cNvPr id="25" name="Rectangle 24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27" name="TextBox 99"/>
          <p:cNvSpPr txBox="1"/>
          <p:nvPr/>
        </p:nvSpPr>
        <p:spPr>
          <a:xfrm>
            <a:off x="7077621" y="1957705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 dirty="0"/>
              <a:t>Not required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45" y="407180"/>
            <a:ext cx="1505026" cy="164939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288" y="2609062"/>
            <a:ext cx="1505026" cy="1649393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 flipH="1">
            <a:off x="5274569" y="1618811"/>
            <a:ext cx="1060577" cy="989921"/>
            <a:chOff x="9637776" y="1965960"/>
            <a:chExt cx="1469811" cy="138779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Parallelogram 36"/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/>
          <p:cNvSpPr txBox="1"/>
          <p:nvPr/>
        </p:nvSpPr>
        <p:spPr>
          <a:xfrm>
            <a:off x="2510860" y="3031804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2208111" y="2982174"/>
            <a:ext cx="312521" cy="2529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29493" y="118731"/>
            <a:ext cx="2334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5141968" y="176477"/>
            <a:ext cx="38713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that the layout is different now. Because first-angle projections are behind the object.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51" name="TextBox 50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586" y="432864"/>
            <a:ext cx="1505026" cy="1649393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27" name="TextBox 99"/>
          <p:cNvSpPr txBox="1"/>
          <p:nvPr/>
        </p:nvSpPr>
        <p:spPr>
          <a:xfrm>
            <a:off x="3589047" y="1968727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9493" y="118731"/>
            <a:ext cx="2334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4863958" y="160056"/>
            <a:ext cx="38713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that the layout is different now. Because first-angle projections are behind the object.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50" name="Parallelogram 49"/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1" name="Parallelogram 50"/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2" name="Parallelogram 51"/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61088" y="2709561"/>
            <a:ext cx="1504077" cy="1649315"/>
          </a:xfrm>
          <a:prstGeom prst="rect">
            <a:avLst/>
          </a:prstGeom>
        </p:spPr>
      </p:pic>
      <p:sp>
        <p:nvSpPr>
          <p:cNvPr id="54" name="Parallelogram 53"/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5" name="Straight Arrow Connector 54"/>
          <p:cNvCxnSpPr/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608626" y="400632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58" name="TextBox 2"/>
          <p:cNvSpPr txBox="1"/>
          <p:nvPr/>
        </p:nvSpPr>
        <p:spPr>
          <a:xfrm>
            <a:off x="183316" y="76537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560112" y="1849633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33471" y="993515"/>
            <a:ext cx="285799" cy="2615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5"/>
          <p:cNvSpPr txBox="1"/>
          <p:nvPr/>
        </p:nvSpPr>
        <p:spPr>
          <a:xfrm>
            <a:off x="174237" y="1937949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600" b="1" dirty="0">
                <a:solidFill>
                  <a:srgbClr val="FF0000"/>
                </a:solidFill>
              </a:rPr>
              <a:t>T</a:t>
            </a:r>
            <a:endParaRPr lang="en-GB" sz="1600" b="1" dirty="0">
              <a:solidFill>
                <a:srgbClr val="FF0000"/>
              </a:solidFill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7132866" y="1706322"/>
            <a:ext cx="1048377" cy="989875"/>
            <a:chOff x="9637776" y="1965960"/>
            <a:chExt cx="1469811" cy="1387792"/>
          </a:xfrm>
        </p:grpSpPr>
        <p:cxnSp>
          <p:nvCxnSpPr>
            <p:cNvPr id="87" name="Straight Connector 86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 rot="5400000">
            <a:off x="5379380" y="3647157"/>
            <a:ext cx="1007618" cy="941377"/>
            <a:chOff x="9690394" y="4430333"/>
            <a:chExt cx="1412668" cy="1319799"/>
          </a:xfrm>
        </p:grpSpPr>
        <p:sp>
          <p:nvSpPr>
            <p:cNvPr id="93" name="Rectangle 92"/>
            <p:cNvSpPr/>
            <p:nvPr/>
          </p:nvSpPr>
          <p:spPr>
            <a:xfrm>
              <a:off x="9690394" y="4430333"/>
              <a:ext cx="1412665" cy="1319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638652" y="4430337"/>
              <a:ext cx="464410" cy="13197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411484" y="1676315"/>
            <a:ext cx="942396" cy="975606"/>
            <a:chOff x="6943810" y="1965960"/>
            <a:chExt cx="1321228" cy="1367788"/>
          </a:xfrm>
        </p:grpSpPr>
        <p:sp>
          <p:nvSpPr>
            <p:cNvPr id="96" name="Rectangle 95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8385" y="89790"/>
            <a:ext cx="45334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  <a:p>
            <a:endParaRPr lang="en-SG" sz="1200" u="sng" dirty="0"/>
          </a:p>
          <a:p>
            <a:r>
              <a:rPr lang="en-SG" sz="1200" dirty="0"/>
              <a:t>T = elevation / front</a:t>
            </a:r>
          </a:p>
          <a:p>
            <a:r>
              <a:rPr lang="en-SG" sz="1200" dirty="0"/>
              <a:t>S = end / side</a:t>
            </a:r>
          </a:p>
          <a:p>
            <a:r>
              <a:rPr lang="en-SG" sz="1200" dirty="0"/>
              <a:t>P = plan / top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502921" y="2754051"/>
            <a:ext cx="49358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956614" y="1079552"/>
            <a:ext cx="0" cy="312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97724" y="359126"/>
            <a:ext cx="60132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/>
              <a:t>Unfold such that elevation view is adjacent to  / center of other views.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/>
              <a:t>Third-angle projections are </a:t>
            </a:r>
            <a:r>
              <a:rPr lang="en-SG" sz="1400">
                <a:highlight>
                  <a:srgbClr val="FFFF00"/>
                </a:highlight>
              </a:rPr>
              <a:t>in between </a:t>
            </a:r>
            <a:r>
              <a:rPr lang="en-SG" sz="1400"/>
              <a:t>the object and the viewer / </a:t>
            </a:r>
            <a:r>
              <a:rPr lang="en-SG" sz="1400">
                <a:highlight>
                  <a:srgbClr val="FFFF00"/>
                </a:highlight>
              </a:rPr>
              <a:t>in front </a:t>
            </a:r>
            <a:r>
              <a:rPr lang="en-SG" sz="1400"/>
              <a:t>of the object.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4947646" y="1161506"/>
            <a:ext cx="0" cy="3046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10697" y="4138043"/>
            <a:ext cx="55212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Elevation is always on the vertical partition of the box.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Plan is always on the horizontal partition of the box.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Same as first-angle, even the locations of End 1 and End 2.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75783F-CC6C-4245-7011-04D68D7A95CA}"/>
              </a:ext>
            </a:extLst>
          </p:cNvPr>
          <p:cNvGrpSpPr/>
          <p:nvPr/>
        </p:nvGrpSpPr>
        <p:grpSpPr>
          <a:xfrm>
            <a:off x="98376" y="1124589"/>
            <a:ext cx="3100801" cy="3337759"/>
            <a:chOff x="98376" y="1124589"/>
            <a:chExt cx="3100801" cy="3337759"/>
          </a:xfrm>
        </p:grpSpPr>
        <p:sp>
          <p:nvSpPr>
            <p:cNvPr id="4" name="Parallelogram 3"/>
            <p:cNvSpPr/>
            <p:nvPr/>
          </p:nvSpPr>
          <p:spPr>
            <a:xfrm rot="9000000" flipV="1">
              <a:off x="369481" y="1486622"/>
              <a:ext cx="2573047" cy="1223764"/>
            </a:xfrm>
            <a:prstGeom prst="parallelogram">
              <a:avLst>
                <a:gd name="adj" fmla="val 58457"/>
              </a:avLst>
            </a:prstGeom>
            <a:solidFill>
              <a:srgbClr val="00B0F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4EB9D4C-B258-6E0F-2A01-222C69C1732C}"/>
                </a:ext>
              </a:extLst>
            </p:cNvPr>
            <p:cNvGrpSpPr/>
            <p:nvPr/>
          </p:nvGrpSpPr>
          <p:grpSpPr>
            <a:xfrm>
              <a:off x="98376" y="1124589"/>
              <a:ext cx="3100801" cy="3337759"/>
              <a:chOff x="98375" y="1099208"/>
              <a:chExt cx="3100801" cy="3337759"/>
            </a:xfrm>
          </p:grpSpPr>
          <p:sp>
            <p:nvSpPr>
              <p:cNvPr id="2" name="Parallelogram 1"/>
              <p:cNvSpPr/>
              <p:nvPr/>
            </p:nvSpPr>
            <p:spPr>
              <a:xfrm rot="16200000" flipV="1">
                <a:off x="1044313" y="2363057"/>
                <a:ext cx="2433876" cy="1617406"/>
              </a:xfrm>
              <a:prstGeom prst="parallelogram">
                <a:avLst>
                  <a:gd name="adj" fmla="val 57036"/>
                </a:avLst>
              </a:prstGeom>
              <a:solidFill>
                <a:srgbClr val="00B0F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" name="Parallelogram 2"/>
              <p:cNvSpPr/>
              <p:nvPr/>
            </p:nvSpPr>
            <p:spPr>
              <a:xfrm rot="16200000">
                <a:off x="-250537" y="2676409"/>
                <a:ext cx="2193467" cy="1222800"/>
              </a:xfrm>
              <a:prstGeom prst="parallelogram">
                <a:avLst>
                  <a:gd name="adj" fmla="val 56363"/>
                </a:avLst>
              </a:prstGeom>
              <a:solidFill>
                <a:srgbClr val="00B0F0">
                  <a:alpha val="5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" name="Parallelogram 4"/>
              <p:cNvSpPr/>
              <p:nvPr/>
            </p:nvSpPr>
            <p:spPr>
              <a:xfrm rot="16200000">
                <a:off x="1367974" y="1758621"/>
                <a:ext cx="2193467" cy="1222800"/>
              </a:xfrm>
              <a:prstGeom prst="parallelogram">
                <a:avLst>
                  <a:gd name="adj" fmla="val 56363"/>
                </a:avLst>
              </a:prstGeom>
              <a:solidFill>
                <a:schemeClr val="tx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2540560" y="4042552"/>
                <a:ext cx="3143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T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8" name="Straight Arrow Connector 7"/>
              <p:cNvCxnSpPr/>
              <p:nvPr/>
            </p:nvCxnSpPr>
            <p:spPr>
              <a:xfrm flipH="1" flipV="1">
                <a:off x="2127070" y="3673757"/>
                <a:ext cx="442264" cy="39013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109852" y="4098413"/>
                <a:ext cx="5582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S1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1453300" y="1471539"/>
                <a:ext cx="0" cy="586521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1340510" y="1099208"/>
                <a:ext cx="3143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P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176185" y="2030492"/>
                <a:ext cx="10229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Base</a:t>
                </a:r>
              </a:p>
            </p:txBody>
          </p:sp>
          <p:sp>
            <p:nvSpPr>
              <p:cNvPr id="16" name="Arrow: Curved Right 60"/>
              <p:cNvSpPr/>
              <p:nvPr/>
            </p:nvSpPr>
            <p:spPr>
              <a:xfrm rot="16970471">
                <a:off x="1763959" y="1792013"/>
                <a:ext cx="166720" cy="370315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row: Curved Right 61"/>
              <p:cNvSpPr/>
              <p:nvPr/>
            </p:nvSpPr>
            <p:spPr>
              <a:xfrm rot="12042724" flipV="1">
                <a:off x="1184719" y="3000210"/>
                <a:ext cx="208918" cy="372484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99747" y="2051767"/>
                <a:ext cx="102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Horizontal partition 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664822" y="3034297"/>
                <a:ext cx="102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Vertical partition 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859376" y="3611289"/>
                <a:ext cx="10229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200"/>
                  <a:t>Lid</a:t>
                </a:r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 flipV="1">
                <a:off x="223872" y="3707163"/>
                <a:ext cx="558277" cy="40827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 flipH="1">
                <a:off x="2370417" y="2317767"/>
                <a:ext cx="436811" cy="36709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2699522" y="2372028"/>
                <a:ext cx="4781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600" b="1">
                    <a:solidFill>
                      <a:srgbClr val="FF0000"/>
                    </a:solidFill>
                  </a:rPr>
                  <a:t>S2</a:t>
                </a:r>
                <a:endParaRPr lang="en-GB" sz="1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Arrow: Curved Right 100"/>
              <p:cNvSpPr/>
              <p:nvPr/>
            </p:nvSpPr>
            <p:spPr>
              <a:xfrm rot="13634337" flipV="1">
                <a:off x="172215" y="2861320"/>
                <a:ext cx="166720" cy="314399"/>
              </a:xfrm>
              <a:prstGeom prst="curvedRightArrow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6" name="TextBox 35"/>
          <p:cNvSpPr txBox="1"/>
          <p:nvPr/>
        </p:nvSpPr>
        <p:spPr>
          <a:xfrm>
            <a:off x="5115052" y="2823545"/>
            <a:ext cx="162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Vertical partition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2769" y="3281653"/>
            <a:ext cx="1178169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Elevation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9515" y="1711694"/>
            <a:ext cx="61073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Plan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31516" y="3271672"/>
            <a:ext cx="670455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/>
              <a:t>End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1646" y="3271672"/>
            <a:ext cx="67927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1103" y="275513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0900" y="275513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Lid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057" y="2400126"/>
            <a:ext cx="1628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Horizontal partition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53190" y="389145"/>
            <a:ext cx="1462740" cy="16039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077" y="2082176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838009" y="1886617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2067" y="125770"/>
            <a:ext cx="2831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Notice that P may not be given, because plan view is always from above.</a:t>
            </a:r>
            <a:endParaRPr lang="en-GB" sz="1400" dirty="0"/>
          </a:p>
        </p:txBody>
      </p:sp>
      <p:sp>
        <p:nvSpPr>
          <p:cNvPr id="8" name="Parallelogram 7"/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3772" y="2819127"/>
            <a:ext cx="1462740" cy="1603987"/>
          </a:xfrm>
          <a:prstGeom prst="rect">
            <a:avLst/>
          </a:prstGeom>
        </p:spPr>
      </p:pic>
      <p:sp>
        <p:nvSpPr>
          <p:cNvPr id="10" name="Parallelogram 9"/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735458" y="3271326"/>
            <a:ext cx="1019564" cy="962670"/>
            <a:chOff x="9637776" y="1965960"/>
            <a:chExt cx="1469811" cy="1387792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506122" y="3301742"/>
            <a:ext cx="948141" cy="948793"/>
            <a:chOff x="6898191" y="1965960"/>
            <a:chExt cx="1366847" cy="1367788"/>
          </a:xfrm>
        </p:grpSpPr>
        <p:sp>
          <p:nvSpPr>
            <p:cNvPr id="27" name="Rectangle 26"/>
            <p:cNvSpPr/>
            <p:nvPr/>
          </p:nvSpPr>
          <p:spPr>
            <a:xfrm>
              <a:off x="6898195" y="1965960"/>
              <a:ext cx="1366843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898191" y="3088262"/>
              <a:ext cx="1366847" cy="245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2" name="Parallelogram 31"/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allelogram 32"/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457558" y="86899"/>
            <a:ext cx="2831829" cy="512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Remember, projections are in front of the object for the third angle.</a:t>
            </a:r>
            <a:endParaRPr lang="en-GB" sz="1400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 rot="5400000">
            <a:off x="5439245" y="1403878"/>
            <a:ext cx="1082547" cy="948793"/>
            <a:chOff x="9690394" y="4382344"/>
            <a:chExt cx="1412666" cy="1367788"/>
          </a:xfrm>
        </p:grpSpPr>
        <p:sp>
          <p:nvSpPr>
            <p:cNvPr id="37" name="Rectangle 36"/>
            <p:cNvSpPr/>
            <p:nvPr/>
          </p:nvSpPr>
          <p:spPr>
            <a:xfrm>
              <a:off x="9690394" y="4382344"/>
              <a:ext cx="1412665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539114" y="4382344"/>
              <a:ext cx="56394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363" y="2587036"/>
            <a:ext cx="1492523" cy="1635691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42" y="446485"/>
            <a:ext cx="1492523" cy="1635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077" y="2082176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38009" y="1886617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allelogram 8"/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1" name="Parallelogram 30"/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/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52504" y="279360"/>
            <a:ext cx="3651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object is rotated.</a:t>
            </a:r>
            <a:endParaRPr lang="en-GB" sz="1400" dirty="0"/>
          </a:p>
        </p:txBody>
      </p:sp>
      <p:sp>
        <p:nvSpPr>
          <p:cNvPr id="72" name="TextBox 71"/>
          <p:cNvSpPr txBox="1"/>
          <p:nvPr/>
        </p:nvSpPr>
        <p:spPr>
          <a:xfrm>
            <a:off x="5362648" y="191095"/>
            <a:ext cx="3333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layout stays the same because the object is simply rotated.</a:t>
            </a:r>
            <a:endParaRPr lang="en-GB" sz="1400" dirty="0"/>
          </a:p>
        </p:txBody>
      </p:sp>
      <p:grpSp>
        <p:nvGrpSpPr>
          <p:cNvPr id="73" name="Group 72"/>
          <p:cNvGrpSpPr/>
          <p:nvPr/>
        </p:nvGrpSpPr>
        <p:grpSpPr>
          <a:xfrm>
            <a:off x="3606839" y="3300891"/>
            <a:ext cx="1049106" cy="1086076"/>
            <a:chOff x="6943810" y="1965960"/>
            <a:chExt cx="1321228" cy="1367788"/>
          </a:xfrm>
        </p:grpSpPr>
        <p:sp>
          <p:nvSpPr>
            <p:cNvPr id="74" name="Rectangle 73"/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944524" y="3091896"/>
              <a:ext cx="1320514" cy="2418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6" name="Group 75"/>
          <p:cNvGrpSpPr/>
          <p:nvPr/>
        </p:nvGrpSpPr>
        <p:grpSpPr>
          <a:xfrm flipH="1">
            <a:off x="5321885" y="3253429"/>
            <a:ext cx="1180612" cy="1101960"/>
            <a:chOff x="9637776" y="1965960"/>
            <a:chExt cx="1469811" cy="1387792"/>
          </a:xfrm>
        </p:grpSpPr>
        <p:cxnSp>
          <p:nvCxnSpPr>
            <p:cNvPr id="77" name="Straight Connector 76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 rot="10800000">
            <a:off x="5321973" y="1183779"/>
            <a:ext cx="1180521" cy="1086077"/>
            <a:chOff x="9757270" y="4382345"/>
            <a:chExt cx="1345791" cy="1367788"/>
          </a:xfrm>
        </p:grpSpPr>
        <p:sp>
          <p:nvSpPr>
            <p:cNvPr id="83" name="Rectangle 82"/>
            <p:cNvSpPr/>
            <p:nvPr/>
          </p:nvSpPr>
          <p:spPr>
            <a:xfrm>
              <a:off x="9757270" y="4382345"/>
              <a:ext cx="134578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0494103" y="4382345"/>
              <a:ext cx="608958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363" y="2587036"/>
            <a:ext cx="1492523" cy="16356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42" y="446485"/>
            <a:ext cx="1492523" cy="1635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21985" y="771050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118079" y="831635"/>
            <a:ext cx="334425" cy="281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rallelogram 7"/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3354" y="3858296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Not required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21" name="Parallelogram 20"/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/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grpSp>
        <p:nvGrpSpPr>
          <p:cNvPr id="30" name="Group 29"/>
          <p:cNvGrpSpPr/>
          <p:nvPr/>
        </p:nvGrpSpPr>
        <p:grpSpPr>
          <a:xfrm flipH="1">
            <a:off x="5321885" y="3253429"/>
            <a:ext cx="1180612" cy="1101960"/>
            <a:chOff x="9637776" y="1965960"/>
            <a:chExt cx="1469811" cy="1387792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 rot="10800000">
            <a:off x="5321973" y="1183779"/>
            <a:ext cx="1180521" cy="1086077"/>
            <a:chOff x="9757270" y="4382345"/>
            <a:chExt cx="1345791" cy="1367788"/>
          </a:xfrm>
        </p:grpSpPr>
        <p:sp>
          <p:nvSpPr>
            <p:cNvPr id="37" name="Rectangle 36"/>
            <p:cNvSpPr/>
            <p:nvPr/>
          </p:nvSpPr>
          <p:spPr>
            <a:xfrm>
              <a:off x="9757270" y="4382345"/>
              <a:ext cx="134578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494103" y="4382345"/>
              <a:ext cx="608958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2315769" y="1327032"/>
            <a:ext cx="18548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4099305" y="190434"/>
            <a:ext cx="4660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that the layout is different now. Third-angle projections are in front of the object.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2654739" y="2556624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2250833" y="2617209"/>
            <a:ext cx="334425" cy="281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7307496" y="3265952"/>
            <a:ext cx="942441" cy="1101961"/>
            <a:chOff x="6943810" y="1788885"/>
            <a:chExt cx="1321228" cy="1544863"/>
          </a:xfrm>
        </p:grpSpPr>
        <p:sp>
          <p:nvSpPr>
            <p:cNvPr id="45" name="Rectangle 44"/>
            <p:cNvSpPr/>
            <p:nvPr/>
          </p:nvSpPr>
          <p:spPr>
            <a:xfrm>
              <a:off x="6943810" y="1788885"/>
              <a:ext cx="1321227" cy="15448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893" y="479480"/>
            <a:ext cx="1492523" cy="1635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411" y="559008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700150" y="1872240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3772" y="2819127"/>
            <a:ext cx="1462740" cy="1603987"/>
          </a:xfrm>
          <a:prstGeom prst="rect">
            <a:avLst/>
          </a:prstGeom>
        </p:spPr>
      </p:pic>
      <p:sp>
        <p:nvSpPr>
          <p:cNvPr id="9" name="Parallelogram 8"/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735458" y="3271326"/>
            <a:ext cx="1019564" cy="962670"/>
            <a:chOff x="9637776" y="1965960"/>
            <a:chExt cx="1469811" cy="1387792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506122" y="3301742"/>
            <a:ext cx="948141" cy="948793"/>
            <a:chOff x="6898191" y="1965960"/>
            <a:chExt cx="1366847" cy="1367788"/>
          </a:xfrm>
        </p:grpSpPr>
        <p:sp>
          <p:nvSpPr>
            <p:cNvPr id="26" name="Rectangle 25"/>
            <p:cNvSpPr/>
            <p:nvPr/>
          </p:nvSpPr>
          <p:spPr>
            <a:xfrm>
              <a:off x="6898195" y="1965960"/>
              <a:ext cx="1366843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898191" y="3088262"/>
              <a:ext cx="1366847" cy="245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83526" y="829335"/>
            <a:ext cx="329218" cy="28898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9833" y="2037918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T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1" name="Parallelogram 30"/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/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 rot="5400000">
            <a:off x="5439245" y="1403878"/>
            <a:ext cx="1082547" cy="948793"/>
            <a:chOff x="9690394" y="4382344"/>
            <a:chExt cx="1412666" cy="1367788"/>
          </a:xfrm>
        </p:grpSpPr>
        <p:sp>
          <p:nvSpPr>
            <p:cNvPr id="36" name="Rectangle 35"/>
            <p:cNvSpPr/>
            <p:nvPr/>
          </p:nvSpPr>
          <p:spPr>
            <a:xfrm>
              <a:off x="9690394" y="4382344"/>
              <a:ext cx="1412665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539114" y="4382344"/>
              <a:ext cx="56394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70545" y="624064"/>
            <a:ext cx="2701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 dirty="0"/>
              <a:t>The elevation view of the question has changed.</a:t>
            </a:r>
            <a:endParaRPr lang="en-GB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4643052" y="261078"/>
            <a:ext cx="4660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SG" sz="1400"/>
              <a:t>The final drawings are the same as Variation 1.</a:t>
            </a:r>
            <a:endParaRPr lang="en-GB" sz="1400"/>
          </a:p>
        </p:txBody>
      </p:sp>
      <p:sp>
        <p:nvSpPr>
          <p:cNvPr id="45" name="TextBox 44"/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4 – Orthographic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17634" y="835119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altLang="zh-CN" dirty="0"/>
              <a:t>irst Quadrant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83048" y="835119"/>
            <a:ext cx="7012825" cy="74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Plan is always below elevation</a:t>
            </a: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roject the view at the back of project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7634" y="1846351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altLang="zh-CN" dirty="0"/>
              <a:t>hird Quadrant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83048" y="1706272"/>
            <a:ext cx="70128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Plan is always above elevation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roject the view in front of the object plane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7634" y="2685195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Direction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3046" y="2685195"/>
            <a:ext cx="701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Elevation View (first to draw)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636" y="3242521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Direction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3048" y="3242521"/>
            <a:ext cx="445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 of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166" y="3851124"/>
            <a:ext cx="8129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Distance from Horizontal &amp; Vertical Plan must be equal </a:t>
            </a:r>
            <a:r>
              <a:rPr lang="en-US" dirty="0">
                <a:solidFill>
                  <a:srgbClr val="FF0000"/>
                </a:solidFill>
              </a:rPr>
              <a:t>for projecting points, lines &amp;surface measurements</a:t>
            </a:r>
            <a:r>
              <a:rPr lang="en-US" dirty="0"/>
              <a:t> from one view to another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166" y="4493024"/>
            <a:ext cx="550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https://www.youtube.com/watch?v=heIobpUVZqc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Where to download </a:t>
            </a:r>
            <a:r>
              <a:rPr lang="en-US" sz="2800" b="1"/>
              <a:t>the slides?</a:t>
            </a:r>
            <a:endParaRPr lang="en-US" altLang="zh-CN" sz="2800" b="1" dirty="0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D8A208E8-88EE-0401-B957-FAFE51527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81" y="867424"/>
            <a:ext cx="3756490" cy="375649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1266E3-78EA-F711-3D66-742DA96A4E23}"/>
              </a:ext>
            </a:extLst>
          </p:cNvPr>
          <p:cNvCxnSpPr>
            <a:cxnSpLocks/>
          </p:cNvCxnSpPr>
          <p:nvPr/>
        </p:nvCxnSpPr>
        <p:spPr>
          <a:xfrm flipV="1">
            <a:off x="3777286" y="1321332"/>
            <a:ext cx="651091" cy="550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F29FD-C5C8-23F9-EA3F-D17CCFB0B60B}"/>
              </a:ext>
            </a:extLst>
          </p:cNvPr>
          <p:cNvSpPr/>
          <p:nvPr/>
        </p:nvSpPr>
        <p:spPr>
          <a:xfrm>
            <a:off x="4428377" y="3044808"/>
            <a:ext cx="1780926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26AAB-4A93-9ECB-14BE-61E6F44E5164}"/>
              </a:ext>
            </a:extLst>
          </p:cNvPr>
          <p:cNvCxnSpPr>
            <a:cxnSpLocks/>
          </p:cNvCxnSpPr>
          <p:nvPr/>
        </p:nvCxnSpPr>
        <p:spPr>
          <a:xfrm flipV="1">
            <a:off x="6209303" y="2355418"/>
            <a:ext cx="694178" cy="7030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7343925" y="3561053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8557234" y="3138163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049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contentTypeID="0x010100E28E816AC679FF4C86C22834E825BD05" ma:_="" ma:contentTypeName="Document" ma:contentTypeVersion="1" ma:versionID="066e42d507d75a122d0db91dd470f30a" ma:contentTypeDescription="Create a new document." ma:contentTypeScope="">
  <xsd:schema xmlns:ns1="http://schemas.microsoft.com/sharepoint/v3" xmlns:xsd="http://www.w3.org/2001/XMLSchema" xmlns:xs="http://www.w3.org/2001/XMLSchema" xmlns:p="http://schemas.microsoft.com/office/2006/metadata/properties" ma:root="true" ns1:_="" targetNamespace="http://schemas.microsoft.com/office/2006/metadata/properties" ma:fieldsID="48c5b5cd9b8d25ff6dd15848836f4270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elementFormDefault="qualified" targetNamespace="http://schemas.microsoft.com/sharepoint/v3">
    <xsd:import namespace="http://schemas.microsoft.com/office/2006/documentManagement/types"/>
    <xsd:import namespace="http://schemas.microsoft.com/office/infopath/2007/PartnerControls"/>
    <xsd:element ma:index="8" ma:hidden="true" ma:displayName="Scheduling Start Date" ma:internalName="PublishingStartDate" ma:description="Scheduling Start Date is a site column created by the Publishing feature. It is used to specify the date and time on which this page will first appear to site visitors." nillable="true" name="PublishingStartDate">
      <xsd:simpleType>
        <xsd:restriction base="dms:Unknown"/>
      </xsd:simpleType>
    </xsd:element>
    <xsd:element ma:index="9" ma:hidden="true" ma:displayName="Scheduling End Date" ma:internalName="PublishingExpirationDate" ma:description="Scheduling End Date is a site column created by the Publishing feature. It is used to specify the date and time on which this page will no longer appear to site visitors." nillable="true" name="PublishingExpirationDate">
      <xsd:simpleType>
        <xsd:restriction base="dms:Unknown"/>
      </xsd:simpleType>
    </xsd:element>
  </xsd:schema>
  <xsd:schema xmlns:dcterms="http://purl.org/dc/terms/" xmlns:dc="http://purl.org/dc/elements/1.1/" xmlns:odoc="http://schemas.microsoft.com/internal/obd" xmlns:xsd="http://www.w3.org/2001/XMLSchema" xmlns:xsi="http://www.w3.org/2001/XMLSchema-instance" xmlns="http://schemas.openxmlformats.org/package/2006/metadata/core-properties" elementFormDefault="qualified" attributeFormDefault="unqualified" targetNamespace="http://schemas.openxmlformats.org/package/2006/metadata/core-properties" blockDefault="#all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ma:index="0" ma:displayName="Content Type" type="xsd:string" maxOccurs="1" minOccurs="0" name="contentType"/>
        <xsd:element ma:index="4" ma:displayName="Title" ref="dc:title" maxOccurs="1" minOccurs="0"/>
        <xsd:element ref="dc:subject" maxOccurs="1" minOccurs="0"/>
        <xsd:element ref="dc:description" maxOccurs="1" minOccurs="0"/>
        <xsd:element type="xsd:string" maxOccurs="1" minOccurs="0" name="keywords"/>
        <xsd:element ref="dc:language" maxOccurs="1" minOccurs="0"/>
        <xsd:element type="xsd:string" maxOccurs="1" minOccurs="0" name="category"/>
        <xsd:element type="xsd:string" maxOccurs="1" minOccurs="0" name="version"/>
        <xsd:element type="xsd:string" maxOccurs="1" minOccurs="0" name="revision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type="xsd:string" maxOccurs="1" minOccurs="0" name="lastModifiedBy"/>
        <xsd:element ref="dcterms:modified" maxOccurs="1" minOccurs="0"/>
        <xsd:element type="xsd:string" maxOccurs="1" minOccurs="0" name="contentStatus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p:properties xmlns:pc="http://schemas.microsoft.com/office/infopath/2007/PartnerControls"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A540F8-4ACB-4DC8-920F-A3CE5A42B988}">
  <ds:schemaRefs/>
</ds:datastoreItem>
</file>

<file path=customXml/itemProps2.xml><?xml version="1.0" encoding="utf-8"?>
<ds:datastoreItem xmlns:ds="http://schemas.openxmlformats.org/officeDocument/2006/customXml" ds:itemID="{264D3FE7-A0C8-4453-A806-BCAD6F53B901}">
  <ds:schemaRefs/>
</ds:datastoreItem>
</file>

<file path=customXml/itemProps3.xml><?xml version="1.0" encoding="utf-8"?>
<ds:datastoreItem xmlns:ds="http://schemas.openxmlformats.org/officeDocument/2006/customXml" ds:itemID="{6CCB8030-6F99-446F-BD3B-E5E3F435F1F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741</Words>
  <Application>Microsoft Macintosh PowerPoint</Application>
  <PresentationFormat>On-screen Show (16:9)</PresentationFormat>
  <Paragraphs>215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#CUI SHUAIWEN#</cp:lastModifiedBy>
  <cp:revision>33</cp:revision>
  <dcterms:created xsi:type="dcterms:W3CDTF">2026-01-30T01:04:09Z</dcterms:created>
  <dcterms:modified xsi:type="dcterms:W3CDTF">2026-01-30T01:13:10Z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  <property fmtid="{D5CDD505-2E9C-101B-9397-08002B2CF9AE}" pid="3" name="ICV">
    <vt:lpwstr>D06F3063DBEB4E4B89037C69EEA92AB1_42</vt:lpwstr>
  </property>
  <property fmtid="{D5CDD505-2E9C-101B-9397-08002B2CF9AE}" pid="4" name="KSOProductBuildVer">
    <vt:lpwstr>1033-12.1.23540.23540</vt:lpwstr>
  </property>
</Properties>
</file>